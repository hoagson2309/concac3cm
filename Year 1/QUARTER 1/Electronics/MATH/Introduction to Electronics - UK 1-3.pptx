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56" r:id="rId5"/>
    <p:sldId id="273" r:id="rId6"/>
    <p:sldId id="274" r:id="rId7"/>
    <p:sldId id="257" r:id="rId8"/>
    <p:sldId id="261" r:id="rId9"/>
    <p:sldId id="259" r:id="rId10"/>
    <p:sldId id="263" r:id="rId11"/>
    <p:sldId id="260" r:id="rId12"/>
    <p:sldId id="271" r:id="rId13"/>
    <p:sldId id="272" r:id="rId14"/>
    <p:sldId id="265" r:id="rId15"/>
    <p:sldId id="268" r:id="rId16"/>
    <p:sldId id="269" r:id="rId17"/>
    <p:sldId id="275" r:id="rId18"/>
    <p:sldId id="277" r:id="rId19"/>
    <p:sldId id="266" r:id="rId20"/>
    <p:sldId id="258" r:id="rId21"/>
    <p:sldId id="278" r:id="rId22"/>
    <p:sldId id="279" r:id="rId23"/>
    <p:sldId id="280" r:id="rId24"/>
    <p:sldId id="281" r:id="rId25"/>
    <p:sldId id="262" r:id="rId26"/>
    <p:sldId id="282" r:id="rId27"/>
    <p:sldId id="283" r:id="rId28"/>
    <p:sldId id="267" r:id="rId29"/>
    <p:sldId id="284" r:id="rId30"/>
    <p:sldId id="276" r:id="rId3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E37A"/>
    <a:srgbClr val="F08B80"/>
    <a:srgbClr val="C49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11A5A1-30EC-47E9-9926-70C5B12E8619}" v="12" dt="2024-09-04T12:40:02.111"/>
    <p1510:client id="{F4856088-6BD9-4326-9AA9-FC531DFEF34F}" v="128" dt="2024-09-04T09:10:50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200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lo Millonzi" userId="4c40bab1-fbbe-468b-822e-62310dadebca" providerId="ADAL" clId="{4711A5A1-30EC-47E9-9926-70C5B12E8619}"/>
    <pc:docChg chg="custSel modSld">
      <pc:chgData name="Marcello Millonzi" userId="4c40bab1-fbbe-468b-822e-62310dadebca" providerId="ADAL" clId="{4711A5A1-30EC-47E9-9926-70C5B12E8619}" dt="2024-09-04T12:40:02.110" v="13" actId="108"/>
      <pc:docMkLst>
        <pc:docMk/>
      </pc:docMkLst>
      <pc:sldChg chg="modSp mod modAnim">
        <pc:chgData name="Marcello Millonzi" userId="4c40bab1-fbbe-468b-822e-62310dadebca" providerId="ADAL" clId="{4711A5A1-30EC-47E9-9926-70C5B12E8619}" dt="2024-09-04T12:40:02.110" v="13" actId="108"/>
        <pc:sldMkLst>
          <pc:docMk/>
          <pc:sldMk cId="2436024591" sldId="273"/>
        </pc:sldMkLst>
        <pc:spChg chg="mod">
          <ac:chgData name="Marcello Millonzi" userId="4c40bab1-fbbe-468b-822e-62310dadebca" providerId="ADAL" clId="{4711A5A1-30EC-47E9-9926-70C5B12E8619}" dt="2024-09-04T12:40:02.110" v="13" actId="108"/>
          <ac:spMkLst>
            <pc:docMk/>
            <pc:sldMk cId="2436024591" sldId="27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BBE67-375B-4F99-BBB3-BCE631393A80}" type="datetimeFigureOut">
              <a:rPr lang="nl-NL" smtClean="0"/>
              <a:t>4-9-2024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C61AE-670B-4DF8-A041-3E70DE1772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099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B4BB8A-4A05-498C-9451-A4C7682CE6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21</a:t>
            </a:fld>
            <a:endParaRPr lang="en-US"/>
          </a:p>
        </p:txBody>
      </p:sp>
      <p:sp>
        <p:nvSpPr>
          <p:cNvPr id="5" name="Tijdelijke aanduiding voor koptekst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Algebraic Skills lesson 3</a:t>
            </a:r>
          </a:p>
        </p:txBody>
      </p:sp>
    </p:spTree>
    <p:extLst>
      <p:ext uri="{BB962C8B-B14F-4D97-AF65-F5344CB8AC3E}">
        <p14:creationId xmlns:p14="http://schemas.microsoft.com/office/powerpoint/2010/main" val="132610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koptekst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Algebraic Skills lesson 3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1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" y="3"/>
            <a:ext cx="12191996" cy="685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356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356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287665F-62CD-4131-9BD9-8FAAA949A596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2CF3485-17FB-471E-8577-1BDF378BC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708" y="5460765"/>
            <a:ext cx="2844000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1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-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3"/>
            <a:ext cx="822491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131127" y="0"/>
            <a:ext cx="406603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800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800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7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4107320"/>
            <a:ext cx="6840000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Voor- en achternaam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0" y="4467095"/>
            <a:ext cx="6839347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Datum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F62E955-F76A-4DE8-A1BB-8B59F2C0B567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TITELDIA-GROEN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B1A9597E-956D-4D57-9D06-941C499C5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59" y="5461202"/>
            <a:ext cx="2842299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6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3"/>
            <a:ext cx="8203476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131200" y="0"/>
            <a:ext cx="40608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800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800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4107320"/>
            <a:ext cx="6840653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 dirty="0"/>
              <a:t>Voor- en achternaam</a:t>
            </a:r>
          </a:p>
        </p:txBody>
      </p:sp>
      <p:sp>
        <p:nvSpPr>
          <p:cNvPr id="10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0" y="4467095"/>
            <a:ext cx="6840000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 dirty="0"/>
              <a:t>Datum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CE6B724-6B58-4515-B463-84D4E794F73B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 MET FOTO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8F674CA-F8DA-462E-A15C-CDBF6BC504E2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8A007AA-B55B-4E9D-A2F8-666B46E41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8AFAFDC3-00F9-47CD-8BCB-D1616EBC9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C8AFDF8-1E85-4372-95AE-14A33EA12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CC2A9E9-C804-4EB0-B3AD-C5402F1A15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708" y="5460765"/>
            <a:ext cx="2844000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0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3CAAD80-5083-4E39-80FC-83B1EBE8A588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</a:t>
            </a:r>
          </a:p>
        </p:txBody>
      </p:sp>
    </p:spTree>
    <p:extLst>
      <p:ext uri="{BB962C8B-B14F-4D97-AF65-F5344CB8AC3E}">
        <p14:creationId xmlns:p14="http://schemas.microsoft.com/office/powerpoint/2010/main" val="725959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(w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631A57E-AFC2-43F7-8E0B-1D68531D3ABF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(wit)</a:t>
            </a:r>
          </a:p>
        </p:txBody>
      </p:sp>
    </p:spTree>
    <p:extLst>
      <p:ext uri="{BB962C8B-B14F-4D97-AF65-F5344CB8AC3E}">
        <p14:creationId xmlns:p14="http://schemas.microsoft.com/office/powerpoint/2010/main" val="3839750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wit+1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6892B8C9-9FB2-4773-A4FB-95DC8AA474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31200" y="0"/>
            <a:ext cx="40608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26000"/>
            <a:ext cx="7122865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70986" y="1764000"/>
            <a:ext cx="7122865" cy="41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A595EE6-BDA6-43DD-955F-79046DE607D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(wit+1/3 foto)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C029E682-A8BB-47FD-A325-4DFA43453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8D7D234-8261-4EA0-B56C-D8D99B2E3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89B0BBB-4ADE-4546-9C32-E55E68427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A4CF239C-5E61-4154-A6FE-1FDBBAB3A7B9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</p:spTree>
    <p:extLst>
      <p:ext uri="{BB962C8B-B14F-4D97-AF65-F5344CB8AC3E}">
        <p14:creationId xmlns:p14="http://schemas.microsoft.com/office/powerpoint/2010/main" val="257450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wit+2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080000" y="0"/>
            <a:ext cx="811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4520427-BA8E-4D38-95EF-C9120025EE09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(wit+2/3 foto)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5BB2FBE-FC88-42C6-9174-5B42C6FFF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DFF4EBA5-603A-445C-8AD1-3851C6AF8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5842EA36-C2FD-4BE7-A75F-AF0D84996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8B6077C4-AF02-4848-AD0D-4DD038E4E57A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72574B8-641E-4642-A1D6-57EB1E59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3121374" cy="666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41D107AE-6AC5-4E94-825B-476C4EB5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87" y="1764000"/>
            <a:ext cx="3121374" cy="41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17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EBFDE8-B5CE-401E-8469-26933AAE4F33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25D200E-0D89-4918-8FEC-8C4416C12C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44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groen+1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26000"/>
            <a:ext cx="7122865" cy="66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70986" y="1764000"/>
            <a:ext cx="7122865" cy="41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225369" y="0"/>
            <a:ext cx="396663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4C1CB270-3104-4523-AB85-86B0C678E631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(groen+1/3 foto)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44AFC8A0-D9D9-4FDC-AA0B-3AC152C58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27B4DFB2-E726-48CA-BF58-470D84AEE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78BF8541-7B2F-4AF1-98D2-F872725BD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5024C2AF-5528-434F-92BD-EC588604F841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26F5C812-23F5-4050-AC64-729B0E4821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19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groen+2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080000" y="0"/>
            <a:ext cx="811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710D2C9-CBE6-4CD7-81BB-91DEE2FE3712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(groen+2/3 foto)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D136605-3DEF-465E-8B56-319FC4B68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0250544-D823-418F-966E-C7D8943C2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2968F752-43C6-425E-9342-5E238901A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46267936-07FE-4EFB-8513-36D661469332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14" name="Titel 2">
            <a:extLst>
              <a:ext uri="{FF2B5EF4-FFF2-40B4-BE49-F238E27FC236}">
                <a16:creationId xmlns:a16="http://schemas.microsoft.com/office/drawing/2014/main" id="{E59E2A4A-E906-40C2-9FE4-8D70A8B6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3121374" cy="66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439CB3E-A9D4-4E2D-922F-65E21A0AF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87" y="1764000"/>
            <a:ext cx="3121374" cy="41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37035787-6F0F-49E5-9360-6DDB5D5A4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51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in.</a:t>
            </a:r>
          </a:p>
          <a:p>
            <a:endParaRPr lang="nl-NL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1" hasCustomPrompt="1"/>
          </p:nvPr>
        </p:nvSpPr>
        <p:spPr>
          <a:xfrm>
            <a:off x="302400" y="6202800"/>
            <a:ext cx="1152000" cy="4464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 dirty="0"/>
              <a:t> 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817D2C3-502A-4EA4-8566-1A465E14F8A4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Grote foto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48CED8D-9F18-460A-A1D9-D9742331D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95B1336-E4CD-4D66-9B53-2E2B09B43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734EEF8F-C0DB-44F7-80E9-6F24D5F4C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7488985C-F0AB-45E1-B334-177AE6C9DAD3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</p:spTree>
    <p:extLst>
      <p:ext uri="{BB962C8B-B14F-4D97-AF65-F5344CB8AC3E}">
        <p14:creationId xmlns:p14="http://schemas.microsoft.com/office/powerpoint/2010/main" val="274740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00" y="4406903"/>
            <a:ext cx="1041831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70985" y="2906713"/>
            <a:ext cx="104170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9D60296-2A65-4A38-BB67-4A38E7380A8E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sectiekop</a:t>
            </a:r>
          </a:p>
        </p:txBody>
      </p:sp>
    </p:spTree>
    <p:extLst>
      <p:ext uri="{BB962C8B-B14F-4D97-AF65-F5344CB8AC3E}">
        <p14:creationId xmlns:p14="http://schemas.microsoft.com/office/powerpoint/2010/main" val="248716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70983" y="1736728"/>
            <a:ext cx="4992000" cy="4176713"/>
          </a:xfrm>
        </p:spPr>
        <p:txBody>
          <a:bodyPr>
            <a:normAutofit/>
          </a:bodyPr>
          <a:lstStyle>
            <a:lvl1pPr marL="288000"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2" y="1736728"/>
            <a:ext cx="4993217" cy="4176713"/>
          </a:xfrm>
        </p:spPr>
        <p:txBody>
          <a:bodyPr>
            <a:normAutofit/>
          </a:bodyPr>
          <a:lstStyle>
            <a:lvl1pPr marL="288000"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70984" y="1026000"/>
            <a:ext cx="10417016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C5EE97F-CAC9-44A7-ACC8-8F1AF103AAD4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Inhoud van twee</a:t>
            </a:r>
          </a:p>
        </p:txBody>
      </p:sp>
    </p:spTree>
    <p:extLst>
      <p:ext uri="{BB962C8B-B14F-4D97-AF65-F5344CB8AC3E}">
        <p14:creationId xmlns:p14="http://schemas.microsoft.com/office/powerpoint/2010/main" val="329658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672000" y="1736725"/>
            <a:ext cx="4992000" cy="438150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72000" y="2174878"/>
            <a:ext cx="4992000" cy="3738563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1736725"/>
            <a:ext cx="4993216" cy="438150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096001" y="2174878"/>
            <a:ext cx="4993216" cy="3738563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F31D87E-EA1A-432A-AFBF-FF7B5E69CE19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vergelijking</a:t>
            </a:r>
          </a:p>
        </p:txBody>
      </p:sp>
    </p:spTree>
    <p:extLst>
      <p:ext uri="{BB962C8B-B14F-4D97-AF65-F5344CB8AC3E}">
        <p14:creationId xmlns:p14="http://schemas.microsoft.com/office/powerpoint/2010/main" val="2683264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670984" y="1026000"/>
            <a:ext cx="10417016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DADD9A8-7A38-4589-B5A1-997790D855A2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Alleen titel</a:t>
            </a:r>
          </a:p>
        </p:txBody>
      </p:sp>
    </p:spTree>
    <p:extLst>
      <p:ext uri="{BB962C8B-B14F-4D97-AF65-F5344CB8AC3E}">
        <p14:creationId xmlns:p14="http://schemas.microsoft.com/office/powerpoint/2010/main" val="308061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6814762-C25A-44C2-B67B-1AC52F96244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leeg</a:t>
            </a:r>
          </a:p>
        </p:txBody>
      </p:sp>
    </p:spTree>
    <p:extLst>
      <p:ext uri="{BB962C8B-B14F-4D97-AF65-F5344CB8AC3E}">
        <p14:creationId xmlns:p14="http://schemas.microsoft.com/office/powerpoint/2010/main" val="4013091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16002"/>
            <a:ext cx="3949700" cy="7207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5" y="1016001"/>
            <a:ext cx="6322484" cy="4897439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70986" y="1736725"/>
            <a:ext cx="3949700" cy="42189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6A9401F-A3DE-42D3-875C-47649ABF2D48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Inhoud met bijschrift</a:t>
            </a:r>
          </a:p>
        </p:txBody>
      </p:sp>
    </p:spTree>
    <p:extLst>
      <p:ext uri="{BB962C8B-B14F-4D97-AF65-F5344CB8AC3E}">
        <p14:creationId xmlns:p14="http://schemas.microsoft.com/office/powerpoint/2010/main" val="944590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568411"/>
            <a:ext cx="7315200" cy="41591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546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9C40B75-09AC-4745-A84A-CD342AFBE38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Afbeelding met bijschrift</a:t>
            </a:r>
          </a:p>
        </p:txBody>
      </p:sp>
    </p:spTree>
    <p:extLst>
      <p:ext uri="{BB962C8B-B14F-4D97-AF65-F5344CB8AC3E}">
        <p14:creationId xmlns:p14="http://schemas.microsoft.com/office/powerpoint/2010/main" val="204768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573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72000" y="1026000"/>
            <a:ext cx="10416000" cy="666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Click to edit the style</a:t>
            </a:r>
            <a:endParaRPr lang="en-US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72000" y="1764000"/>
            <a:ext cx="10416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Click to edit the model styles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en-US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401359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2809271-3493-466D-AB40-73FA581AA587}"/>
              </a:ext>
            </a:extLst>
          </p:cNvPr>
          <p:cNvSpPr txBox="1"/>
          <p:nvPr/>
        </p:nvSpPr>
        <p:spPr>
          <a:xfrm>
            <a:off x="-2241155" y="-36000"/>
            <a:ext cx="2088000" cy="6505099"/>
          </a:xfrm>
          <a:prstGeom prst="roundRect">
            <a:avLst>
              <a:gd name="adj" fmla="val 5780"/>
            </a:avLst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50673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 START</a:t>
            </a: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NEW DIA</a:t>
            </a:r>
          </a:p>
          <a:p>
            <a:pPr marL="536575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lower part of the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New Slide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and choose the desired slide format.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900" b="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OTHER DIA-INDEling </a:t>
            </a: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slide whose slide format you want to change.</a:t>
            </a: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Layout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button.</a:t>
            </a:r>
            <a:endParaRPr lang="nl-NL" sz="900" b="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desired layout.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RESTORE SLIDE FORMAT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may have accidentally moved the text or photo boxes, so they are no longer in the correct position.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Restore it by 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clicking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nl-NL" sz="900" b="1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Reset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button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COPYING FROM AN OLD PRESENTATION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cannot copy entire slides from presentations with </a:t>
            </a:r>
            <a:r>
              <a:rPr lang="nl-NL" sz="900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different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format. In that case, insert a new slide and copy the text from the 'old' presentation to the new slide. To do so, use the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Paste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and choose the </a:t>
            </a:r>
            <a:r>
              <a:rPr lang="nl-NL" sz="900" b="1" kern="1200" baseline="0" noProof="1">
                <a:solidFill>
                  <a:srgbClr val="515F67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Keep text only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option.</a:t>
            </a:r>
            <a:endParaRPr lang="nl-NL" sz="900" kern="1200" baseline="0" noProof="1">
              <a:solidFill>
                <a:srgbClr val="515F6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7FC3243-A215-4B96-80E1-7A8F51022F7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5503" y="1359789"/>
            <a:ext cx="428625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9145B82A-63CF-4418-B553-F6D182D4133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5503" y="6262927"/>
            <a:ext cx="1457325" cy="523875"/>
          </a:xfrm>
          <a:prstGeom prst="rect">
            <a:avLst/>
          </a:prstGeom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F0B69D13-0C64-4DE5-AB3D-E65F4DC77D34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C7DD53AD-8525-4F8C-8FB3-F370DA4EA80D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8560EC97-28E4-4A9A-9F83-8C1BE5FCD106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8" t="26168" r="1250" b="15996"/>
          <a:stretch/>
        </p:blipFill>
        <p:spPr>
          <a:xfrm>
            <a:off x="-2115503" y="235998"/>
            <a:ext cx="1691640" cy="677602"/>
          </a:xfrm>
          <a:prstGeom prst="rect">
            <a:avLst/>
          </a:prstGeom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AC804CAC-6109-47DC-BF9B-6C26568C72F0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11667B06-528D-450B-B054-CD570D304754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24492C2B-39AA-43E6-AF2B-8DB99405E983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A400A29-A2B3-477A-96E7-AE601DB050B4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A087A102-250D-4D0A-8FAA-3CBE70080871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BFD25CAE-7A58-4396-BBBD-B9DBB084F6D9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7B2E086-A9F6-44E6-B37D-A28331CB99EB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568" y="6201364"/>
            <a:ext cx="1152000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>
          <p15:clr>
            <a:srgbClr val="F26B43"/>
          </p15:clr>
        </p15:guide>
        <p15:guide id="2" pos="2880">
          <p15:clr>
            <a:srgbClr val="F26B43"/>
          </p15:clr>
        </p15:guide>
        <p15:guide id="3" pos="415">
          <p15:clr>
            <a:srgbClr val="F26B43"/>
          </p15:clr>
        </p15:guide>
        <p15:guide id="4" pos="5239">
          <p15:clr>
            <a:srgbClr val="F26B43"/>
          </p15:clr>
        </p15:guide>
        <p15:guide id="5" orient="horz" pos="3725">
          <p15:clr>
            <a:srgbClr val="F26B43"/>
          </p15:clr>
        </p15:guide>
        <p15:guide id="6" orient="horz" pos="109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9" Type="http://schemas.openxmlformats.org/officeDocument/2006/relationships/image" Target="../media/image76.png"/><Relationship Id="rId34" Type="http://schemas.openxmlformats.org/officeDocument/2006/relationships/image" Target="../media/image71.png"/><Relationship Id="rId42" Type="http://schemas.openxmlformats.org/officeDocument/2006/relationships/image" Target="../media/image79.png"/><Relationship Id="rId47" Type="http://schemas.openxmlformats.org/officeDocument/2006/relationships/image" Target="../media/image8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9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32" Type="http://schemas.openxmlformats.org/officeDocument/2006/relationships/image" Target="../media/image69.png"/><Relationship Id="rId37" Type="http://schemas.openxmlformats.org/officeDocument/2006/relationships/image" Target="../media/image74.png"/><Relationship Id="rId40" Type="http://schemas.openxmlformats.org/officeDocument/2006/relationships/image" Target="../media/image77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36" Type="http://schemas.openxmlformats.org/officeDocument/2006/relationships/image" Target="../media/image73.png"/><Relationship Id="rId49" Type="http://schemas.openxmlformats.org/officeDocument/2006/relationships/image" Target="../media/image58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4" Type="http://schemas.openxmlformats.org/officeDocument/2006/relationships/image" Target="../media/image81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Relationship Id="rId35" Type="http://schemas.openxmlformats.org/officeDocument/2006/relationships/image" Target="../media/image72.png"/><Relationship Id="rId43" Type="http://schemas.openxmlformats.org/officeDocument/2006/relationships/image" Target="../media/image80.png"/><Relationship Id="rId48" Type="http://schemas.openxmlformats.org/officeDocument/2006/relationships/image" Target="../media/image44.png"/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33" Type="http://schemas.openxmlformats.org/officeDocument/2006/relationships/image" Target="../media/image70.png"/><Relationship Id="rId38" Type="http://schemas.openxmlformats.org/officeDocument/2006/relationships/image" Target="../media/image75.png"/><Relationship Id="rId46" Type="http://schemas.openxmlformats.org/officeDocument/2006/relationships/image" Target="../media/image83.png"/><Relationship Id="rId20" Type="http://schemas.openxmlformats.org/officeDocument/2006/relationships/image" Target="../media/image57.png"/><Relationship Id="rId41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7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42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50.wmf"/><Relationship Id="rId2" Type="http://schemas.openxmlformats.org/officeDocument/2006/relationships/oleObject" Target="../embeddings/oleObject31.bin"/><Relationship Id="rId16" Type="http://schemas.openxmlformats.org/officeDocument/2006/relationships/oleObject" Target="../embeddings/oleObject3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3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51.wmf"/><Relationship Id="rId21" Type="http://schemas.openxmlformats.org/officeDocument/2006/relationships/image" Target="../media/image58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56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3.wmf"/><Relationship Id="rId5" Type="http://schemas.openxmlformats.org/officeDocument/2006/relationships/image" Target="../media/image52.wmf"/><Relationship Id="rId15" Type="http://schemas.openxmlformats.org/officeDocument/2006/relationships/image" Target="../media/image55.wmf"/><Relationship Id="rId23" Type="http://schemas.openxmlformats.org/officeDocument/2006/relationships/image" Target="../media/image59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7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4.wmf"/><Relationship Id="rId17" Type="http://schemas.openxmlformats.org/officeDocument/2006/relationships/oleObject" Target="../embeddings/oleObject57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image" Target="../media/image139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72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7409C2-8123-A65B-C028-5EC375AFBA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6B75C5-34BC-4511-B8F6-EDDFBB2AD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sz="4800" dirty="0"/>
              <a:t>Lesson 1: Addition, subtraction, multiplication and division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207E71A-0F6C-4491-8878-D8B4E61DC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Introduction to </a:t>
            </a:r>
            <a:r>
              <a:rPr lang="nl-NL" dirty="0"/>
              <a:t>Electronics - mathematics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CF2BF-E13B-D614-CB31-94B7EEE03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EAC0EF-AF9E-239E-CFD2-98AA9CEDE9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615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Practicalities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Marcello Millonzi, m.a.g.millonzi@saxion.nl </a:t>
            </a:r>
          </a:p>
          <a:p>
            <a:endParaRPr lang="nl-NL" sz="2800" dirty="0"/>
          </a:p>
          <a:p>
            <a:r>
              <a:rPr lang="nl-NL" sz="2800" dirty="0"/>
              <a:t>A lesson lasts twice 45 minutes</a:t>
            </a:r>
          </a:p>
          <a:p>
            <a:r>
              <a:rPr lang="nl-NL" sz="2800" dirty="0"/>
              <a:t>First a short instruction, then getting started yourself</a:t>
            </a:r>
          </a:p>
          <a:p>
            <a:endParaRPr lang="nl-NL" sz="2800" dirty="0"/>
          </a:p>
          <a:p>
            <a:r>
              <a:rPr lang="nl-NL" sz="2800" dirty="0"/>
              <a:t>Each lesson includes a Möbius test in two forms: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nl-NL" sz="2400" dirty="0"/>
              <a:t>An anonymous practice test (</a:t>
            </a:r>
            <a:r>
              <a:rPr lang="nl-NL" sz="2400" dirty="0" err="1"/>
              <a:t>anonymous practice</a:t>
            </a:r>
            <a:r>
              <a:rPr lang="nl-NL" sz="24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nl-NL" sz="2400" dirty="0"/>
              <a:t>A '</a:t>
            </a:r>
            <a:r>
              <a:rPr lang="nl-NL" sz="2400" dirty="0" err="1"/>
              <a:t>Homework</a:t>
            </a:r>
            <a:r>
              <a:rPr lang="nl-NL" sz="2400" dirty="0"/>
              <a:t> or quiz' with </a:t>
            </a:r>
            <a:r>
              <a:rPr lang="nl-NL" sz="2400" b="1" dirty="0">
                <a:solidFill>
                  <a:srgbClr val="FF0000"/>
                </a:solidFill>
              </a:rPr>
              <a:t>deadline, max 4 </a:t>
            </a:r>
            <a:r>
              <a:rPr lang="nl-NL" sz="2400" b="1" dirty="0" err="1">
                <a:solidFill>
                  <a:srgbClr val="FF0000"/>
                </a:solidFill>
              </a:rPr>
              <a:t>attempts</a:t>
            </a:r>
            <a:endParaRPr lang="nl-NL" sz="2400" b="1" dirty="0">
              <a:solidFill>
                <a:srgbClr val="FF0000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Conditional to be able to pass Introduction to Electronics</a:t>
            </a:r>
          </a:p>
          <a:p>
            <a:r>
              <a:rPr lang="nl-NL" sz="2800" dirty="0"/>
              <a:t>Score above 80%: test passed</a:t>
            </a:r>
          </a:p>
          <a:p>
            <a:pPr marL="0" indent="0">
              <a:buNone/>
            </a:pPr>
            <a:endParaRPr lang="nl-NL" sz="2800" dirty="0"/>
          </a:p>
          <a:p>
            <a:pPr marL="0" indent="0">
              <a:buNone/>
            </a:pPr>
            <a:endParaRPr lang="nl-NL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D1441-609F-D847-30FD-DDD0883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60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Möbius and </a:t>
            </a:r>
            <a:r>
              <a:rPr lang="nl-NL" dirty="0" err="1"/>
              <a:t>Brightspace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Möbius</a:t>
            </a:r>
          </a:p>
          <a:p>
            <a:endParaRPr lang="en-US" sz="2800" dirty="0"/>
          </a:p>
          <a:p>
            <a:r>
              <a:rPr lang="en-US" sz="2800" dirty="0"/>
              <a:t>Note </a:t>
            </a:r>
            <a:r>
              <a:rPr lang="en-US" sz="2800" dirty="0" err="1"/>
              <a:t>notation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 err="1"/>
              <a:t>	See</a:t>
            </a:r>
            <a:r>
              <a:rPr lang="en-US" sz="2800" dirty="0"/>
              <a:t>: mathematical formulas on Brightspace  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 err="1"/>
              <a:t>Work neatly and work out </a:t>
            </a:r>
            <a:r>
              <a:rPr lang="en-US" sz="2800" dirty="0"/>
              <a:t>the entire </a:t>
            </a:r>
            <a:r>
              <a:rPr lang="en-US" sz="2800" dirty="0" err="1"/>
              <a:t>task </a:t>
            </a:r>
            <a:r>
              <a:rPr lang="en-US" sz="2800" dirty="0"/>
              <a:t>on </a:t>
            </a:r>
            <a:r>
              <a:rPr lang="en-US" sz="2800" dirty="0" err="1"/>
              <a:t>paper</a:t>
            </a:r>
            <a:r>
              <a:rPr lang="en-US" sz="2800" dirty="0"/>
              <a:t>!</a:t>
            </a: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D8687-3BE4-0E5C-DCCE-1B573B244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616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number line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jdelijke aanduiding voor inhoud 9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Opposite (</a:t>
                </a:r>
                <a:r>
                  <a:rPr lang="nl-NL" dirty="0" err="1"/>
                  <a:t>opposite</a:t>
                </a:r>
                <a:r>
                  <a:rPr lang="nl-NL" dirty="0"/>
                  <a:t>):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nl-NL" dirty="0"/>
                  <a:t>the opposite of 5 is -5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nl-NL" dirty="0"/>
                  <a:t>the opposite of -3 is 3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nl-NL" dirty="0"/>
                  <a:t>the opposite of 1 is -1 </a:t>
                </a:r>
              </a:p>
              <a:p>
                <a:endParaRPr lang="nl-NL" dirty="0"/>
              </a:p>
              <a:p>
                <a:r>
                  <a:rPr lang="nl-NL" dirty="0"/>
                  <a:t>In Möbius: 1 is entered as 7/4</a:t>
                </a:r>
              </a:p>
              <a:p>
                <a:endParaRPr lang="nl-NL" dirty="0"/>
              </a:p>
              <a:p>
                <a:r>
                  <a:rPr lang="nl-NL" dirty="0"/>
                  <a:t>Subtraction is addition of its opposite</a:t>
                </a:r>
              </a:p>
              <a:p>
                <a:endParaRPr lang="en-US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0" name="Tijdelijke aanduiding voor inhoud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Afbeelding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058" y="1507675"/>
            <a:ext cx="8136904" cy="69867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B38C8-4F21-B43B-59EE-B8347A1FB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202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Examples: </a:t>
            </a:r>
          </a:p>
          <a:p>
            <a:r>
              <a:rPr lang="nl-NL" dirty="0"/>
              <a:t>4 - 3 = 4 + (-3) = 1</a:t>
            </a:r>
          </a:p>
          <a:p>
            <a:r>
              <a:rPr lang="nl-NL" dirty="0"/>
              <a:t>4 - 4 = 4 + (-4) = 0</a:t>
            </a:r>
          </a:p>
          <a:p>
            <a:r>
              <a:rPr lang="nl-NL" dirty="0"/>
              <a:t>4 - 5 = 4 + (-5) = -1</a:t>
            </a:r>
          </a:p>
          <a:p>
            <a:r>
              <a:rPr lang="nl-NL" dirty="0"/>
              <a:t>4 - (-3) = 4 + 3 = 7</a:t>
            </a:r>
            <a:endParaRPr lang="en-US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616" y="692697"/>
            <a:ext cx="8136904" cy="6986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C78F5-1477-6869-427B-6D2263874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558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jdelijke aanduiding voor inhoud 9"/>
              <p:cNvSpPr>
                <a:spLocks noGrp="1"/>
              </p:cNvSpPr>
              <p:nvPr>
                <p:ph idx="1"/>
              </p:nvPr>
            </p:nvSpPr>
            <p:spPr>
              <a:xfrm>
                <a:off x="1991544" y="692696"/>
                <a:ext cx="8229600" cy="5400600"/>
              </a:xfrm>
            </p:spPr>
            <p:txBody>
              <a:bodyPr/>
              <a:lstStyle/>
              <a:p>
                <a:r>
                  <a:rPr lang="nl-NL" sz="2800" dirty="0" err="1"/>
                  <a:t>Reciprocal</a:t>
                </a:r>
                <a:r>
                  <a:rPr lang="nl-NL" sz="2800" dirty="0"/>
                  <a:t>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nl-NL" sz="2800" dirty="0" err="1"/>
                  <a:t>the</a:t>
                </a:r>
                <a:r>
                  <a:rPr lang="nl-NL" sz="2800" dirty="0"/>
                  <a:t> </a:t>
                </a:r>
                <a:r>
                  <a:rPr lang="nl-NL" sz="2800" dirty="0" err="1"/>
                  <a:t>reciprocal</a:t>
                </a:r>
                <a:r>
                  <a:rPr lang="nl-NL" sz="2800" dirty="0"/>
                  <a:t> of 5 is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nl-NL" sz="2800" dirty="0" err="1"/>
                  <a:t>the</a:t>
                </a:r>
                <a:r>
                  <a:rPr lang="nl-NL" sz="2800" dirty="0"/>
                  <a:t> </a:t>
                </a:r>
                <a:r>
                  <a:rPr lang="nl-NL" sz="2800" dirty="0" err="1"/>
                  <a:t>reciprocal</a:t>
                </a:r>
                <a:r>
                  <a:rPr lang="nl-NL" sz="2800" dirty="0"/>
                  <a:t> of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800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nl-NL" sz="2800" i="1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nl-NL" sz="2800" dirty="0"/>
                  <a:t> is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800" i="1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nl-NL" sz="2800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nl-NL" sz="2800" dirty="0"/>
                  <a:t>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nl-NL" sz="2800" dirty="0" err="1"/>
                  <a:t>the</a:t>
                </a:r>
                <a:r>
                  <a:rPr lang="nl-NL" sz="2800" dirty="0"/>
                  <a:t> </a:t>
                </a:r>
                <a:r>
                  <a:rPr lang="nl-NL" sz="2800" dirty="0" err="1"/>
                  <a:t>reciprocal</a:t>
                </a:r>
                <a:r>
                  <a:rPr lang="nl-NL" sz="2800" dirty="0"/>
                  <a:t> of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800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nl-NL" sz="2800" i="1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nl-NL" sz="28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800" i="1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nl-NL" sz="2800" i="1">
                            <a:latin typeface="Cambria Math"/>
                          </a:rPr>
                          <m:t>7</m:t>
                        </m:r>
                      </m:den>
                    </m:f>
                  </m:oMath>
                </a14:m>
                <a:r>
                  <a:rPr lang="nl-NL" sz="2800" dirty="0"/>
                  <a:t> </a:t>
                </a:r>
              </a:p>
              <a:p>
                <a:endParaRPr lang="nl-NL" sz="2800" dirty="0"/>
              </a:p>
              <a:p>
                <a:r>
                  <a:rPr lang="nl-NL" sz="2800" dirty="0"/>
                  <a:t>To divide is to multiply by </a:t>
                </a:r>
                <a:r>
                  <a:rPr lang="nl-NL" sz="2800" dirty="0" err="1"/>
                  <a:t>the</a:t>
                </a:r>
                <a:r>
                  <a:rPr lang="nl-NL" sz="2800" dirty="0"/>
                  <a:t> </a:t>
                </a:r>
                <a:r>
                  <a:rPr lang="nl-NL" sz="2800" dirty="0" err="1"/>
                  <a:t>reciprocal</a:t>
                </a:r>
                <a:endParaRPr lang="nl-NL" sz="2800" dirty="0"/>
              </a:p>
              <a:p>
                <a:endParaRPr lang="nl-NL" sz="2800" dirty="0"/>
              </a:p>
              <a:p>
                <a:r>
                  <a:rPr lang="nl-NL" sz="2800" dirty="0"/>
                  <a:t>Example: </a:t>
                </a:r>
              </a:p>
            </p:txBody>
          </p:sp>
        </mc:Choice>
        <mc:Fallback xmlns="">
          <p:sp>
            <p:nvSpPr>
              <p:cNvPr id="10" name="Tijdelijke aanduiding voor inhoud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91544" y="692696"/>
                <a:ext cx="8229600" cy="5400600"/>
              </a:xfrm>
              <a:blipFill>
                <a:blip r:embed="rId2"/>
                <a:stretch>
                  <a:fillRect l="-2444" t="-203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 bwMode="auto">
              <a:xfrm>
                <a:off x="4723749" y="4150714"/>
                <a:ext cx="2296880" cy="998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f>
                            <m:fPr>
                              <m:ctrlPr>
                                <a:rPr lang="nl-NL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nl-NL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=25⋅2=50</m:t>
                      </m:r>
                    </m:oMath>
                  </m:oMathPara>
                </a14:m>
                <a:endParaRPr lang="nl-NL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3749" y="4150714"/>
                <a:ext cx="2296880" cy="998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41760-1A2A-CE85-D6D0-B35F7683A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023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Divisibility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 number is divisible by 2 (even) if</a:t>
            </a:r>
          </a:p>
          <a:p>
            <a:pPr marL="0" indent="0">
              <a:buNone/>
            </a:pPr>
            <a:r>
              <a:rPr lang="nl-NL" dirty="0"/>
              <a:t>      the last digit is 0, 2, 4, 6 or 8.</a:t>
            </a:r>
          </a:p>
          <a:p>
            <a:r>
              <a:rPr lang="nl-NL" dirty="0"/>
              <a:t>A number is divisible by 3 if </a:t>
            </a:r>
          </a:p>
          <a:p>
            <a:pPr marL="0" indent="0">
              <a:buNone/>
            </a:pPr>
            <a:r>
              <a:rPr lang="nl-NL" dirty="0"/>
              <a:t>      the sum of the digits is divisible by 3</a:t>
            </a:r>
          </a:p>
          <a:p>
            <a:r>
              <a:rPr lang="nl-NL" dirty="0"/>
              <a:t>A number is divisible by 5 if</a:t>
            </a:r>
          </a:p>
          <a:p>
            <a:pPr marL="0" indent="0">
              <a:buNone/>
            </a:pPr>
            <a:r>
              <a:rPr lang="nl-NL" dirty="0"/>
              <a:t>      the last digit is 0 or 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FADB0-8C4C-450E-C018-985485062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615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Prime numbers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3200" dirty="0"/>
              <a:t>A prime number is a positive integer, greater than 1, that is divisible only by 1 and itself.</a:t>
            </a:r>
          </a:p>
          <a:p>
            <a:endParaRPr lang="nl-NL" sz="3200" dirty="0"/>
          </a:p>
          <a:p>
            <a:r>
              <a:rPr lang="nl-NL" sz="3200" dirty="0"/>
              <a:t>The first ten prime numbers are: </a:t>
            </a:r>
            <a:br>
              <a:rPr lang="nl-NL" sz="3200" dirty="0"/>
            </a:br>
            <a:r>
              <a:rPr lang="nl-NL" sz="3200" dirty="0"/>
              <a:t>2, 3, 5, 7, 11, 13, 17, 19, 23, 29</a:t>
            </a:r>
          </a:p>
          <a:p>
            <a:endParaRPr lang="nl-NL" sz="3200" dirty="0"/>
          </a:p>
          <a:p>
            <a:r>
              <a:rPr lang="nl-NL" sz="3200" dirty="0"/>
              <a:t>Each whole number is uniquely determined by its prime factors</a:t>
            </a:r>
          </a:p>
          <a:p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47D53-1AAC-6EEB-CC6F-1B459EA3F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287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Arbor factor decomposition</a:t>
            </a:r>
            <a:endParaRPr lang="en-US" dirty="0"/>
          </a:p>
        </p:txBody>
      </p:sp>
      <p:sp>
        <p:nvSpPr>
          <p:cNvPr id="7" name="Tekstvak 6"/>
          <p:cNvSpPr txBox="1"/>
          <p:nvPr/>
        </p:nvSpPr>
        <p:spPr>
          <a:xfrm>
            <a:off x="2423592" y="4164547"/>
            <a:ext cx="3038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 60 = 2∙2∙3∙5 </a:t>
            </a:r>
            <a:endParaRPr lang="en-US" sz="2800" dirty="0"/>
          </a:p>
        </p:txBody>
      </p:sp>
      <p:sp>
        <p:nvSpPr>
          <p:cNvPr id="9" name="Tekstvak 8"/>
          <p:cNvSpPr txBox="1"/>
          <p:nvPr/>
        </p:nvSpPr>
        <p:spPr>
          <a:xfrm>
            <a:off x="5519936" y="4164546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 24 = 2∙2∙2∙3 </a:t>
            </a:r>
            <a:endParaRPr lang="en-US" sz="2800" dirty="0"/>
          </a:p>
        </p:txBody>
      </p:sp>
      <p:sp>
        <p:nvSpPr>
          <p:cNvPr id="10" name="Tekstvak 9"/>
          <p:cNvSpPr txBox="1"/>
          <p:nvPr/>
        </p:nvSpPr>
        <p:spPr>
          <a:xfrm>
            <a:off x="1919536" y="4735676"/>
            <a:ext cx="1009040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600" dirty="0"/>
              <a:t>The greatest common </a:t>
            </a:r>
            <a:r>
              <a:rPr lang="nl-NL" sz="2600" dirty="0" err="1"/>
              <a:t>divisor</a:t>
            </a:r>
            <a:r>
              <a:rPr lang="nl-NL" sz="2600" dirty="0"/>
              <a:t> (GCD) of 60 and 24 is </a:t>
            </a:r>
          </a:p>
          <a:p>
            <a:pPr algn="ctr"/>
            <a:r>
              <a:rPr lang="nl-NL" sz="2600" dirty="0"/>
              <a:t>2∙2∙3 = 12 </a:t>
            </a:r>
            <a:endParaRPr lang="en-US" sz="2600" dirty="0"/>
          </a:p>
        </p:txBody>
      </p:sp>
      <p:sp>
        <p:nvSpPr>
          <p:cNvPr id="11" name="Tekstvak 10"/>
          <p:cNvSpPr txBox="1"/>
          <p:nvPr/>
        </p:nvSpPr>
        <p:spPr>
          <a:xfrm>
            <a:off x="1919536" y="5517232"/>
            <a:ext cx="1019473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600" dirty="0"/>
              <a:t>The least common multiple (LCM) of 60 and 24 is </a:t>
            </a:r>
          </a:p>
          <a:p>
            <a:pPr algn="ctr"/>
            <a:r>
              <a:rPr lang="nl-NL" sz="2600" dirty="0"/>
              <a:t>2∙2∙2∙3∙5 = 120 </a:t>
            </a:r>
            <a:endParaRPr lang="en-US" sz="2600" dirty="0"/>
          </a:p>
        </p:txBody>
      </p:sp>
      <p:sp>
        <p:nvSpPr>
          <p:cNvPr id="4" name="Rechthoek 3"/>
          <p:cNvSpPr/>
          <p:nvPr/>
        </p:nvSpPr>
        <p:spPr>
          <a:xfrm>
            <a:off x="3958307" y="4246136"/>
            <a:ext cx="840757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hoek 4"/>
          <p:cNvSpPr/>
          <p:nvPr/>
        </p:nvSpPr>
        <p:spPr>
          <a:xfrm>
            <a:off x="7333639" y="4246136"/>
            <a:ext cx="816178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hoek 5"/>
          <p:cNvSpPr/>
          <p:nvPr/>
        </p:nvSpPr>
        <p:spPr>
          <a:xfrm>
            <a:off x="6208653" y="5205541"/>
            <a:ext cx="756084" cy="34581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kstvak 7"/>
          <p:cNvSpPr txBox="1"/>
          <p:nvPr/>
        </p:nvSpPr>
        <p:spPr>
          <a:xfrm>
            <a:off x="3071664" y="1268760"/>
            <a:ext cx="13681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    60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30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15</a:t>
            </a:r>
          </a:p>
          <a:p>
            <a:r>
              <a:rPr lang="nl-NL" sz="2000" dirty="0"/>
              <a:t>3 -----</a:t>
            </a:r>
          </a:p>
          <a:p>
            <a:r>
              <a:rPr lang="nl-NL" sz="2000" dirty="0"/>
              <a:t>      5</a:t>
            </a:r>
          </a:p>
          <a:p>
            <a:r>
              <a:rPr lang="nl-NL" sz="2000" dirty="0"/>
              <a:t>5 -----</a:t>
            </a:r>
          </a:p>
          <a:p>
            <a:r>
              <a:rPr lang="nl-NL" sz="2000" dirty="0"/>
              <a:t>      1</a:t>
            </a:r>
            <a:endParaRPr lang="en-US" sz="2000" dirty="0"/>
          </a:p>
        </p:txBody>
      </p:sp>
      <p:sp>
        <p:nvSpPr>
          <p:cNvPr id="14" name="Tekstvak 13"/>
          <p:cNvSpPr txBox="1"/>
          <p:nvPr/>
        </p:nvSpPr>
        <p:spPr>
          <a:xfrm>
            <a:off x="6168008" y="1268760"/>
            <a:ext cx="13681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    24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12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  6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  3</a:t>
            </a:r>
          </a:p>
          <a:p>
            <a:r>
              <a:rPr lang="nl-NL" sz="2000" dirty="0"/>
              <a:t>3 -----</a:t>
            </a:r>
          </a:p>
          <a:p>
            <a:r>
              <a:rPr lang="nl-NL" sz="2000" dirty="0"/>
              <a:t>      1</a:t>
            </a:r>
            <a:endParaRPr lang="en-US" sz="2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3A54DB-5EC3-B478-A41F-1895C1560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053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Another prime factor decomposition</a:t>
            </a:r>
            <a:endParaRPr lang="en-US" dirty="0"/>
          </a:p>
        </p:txBody>
      </p:sp>
      <p:sp>
        <p:nvSpPr>
          <p:cNvPr id="7" name="Tekstvak 6"/>
          <p:cNvSpPr txBox="1"/>
          <p:nvPr/>
        </p:nvSpPr>
        <p:spPr>
          <a:xfrm>
            <a:off x="2423591" y="4164547"/>
            <a:ext cx="3096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 60 = 2∙2∙3∙5 </a:t>
            </a:r>
            <a:endParaRPr lang="en-US" sz="2800" dirty="0"/>
          </a:p>
        </p:txBody>
      </p:sp>
      <p:sp>
        <p:nvSpPr>
          <p:cNvPr id="9" name="Tekstvak 8"/>
          <p:cNvSpPr txBox="1"/>
          <p:nvPr/>
        </p:nvSpPr>
        <p:spPr>
          <a:xfrm>
            <a:off x="5519935" y="4164546"/>
            <a:ext cx="447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 130 = 2∙5∙13 </a:t>
            </a:r>
            <a:endParaRPr lang="en-US" sz="2800" dirty="0"/>
          </a:p>
        </p:txBody>
      </p:sp>
      <p:sp>
        <p:nvSpPr>
          <p:cNvPr id="10" name="Tekstvak 9"/>
          <p:cNvSpPr txBox="1"/>
          <p:nvPr/>
        </p:nvSpPr>
        <p:spPr>
          <a:xfrm>
            <a:off x="1919535" y="4735676"/>
            <a:ext cx="101640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600" dirty="0"/>
              <a:t>The greatest common </a:t>
            </a:r>
            <a:r>
              <a:rPr lang="nl-NL" sz="2600" dirty="0" err="1"/>
              <a:t>denominator</a:t>
            </a:r>
            <a:r>
              <a:rPr lang="nl-NL" sz="2600" dirty="0"/>
              <a:t> (GCD) of 60 and 130 is </a:t>
            </a:r>
          </a:p>
          <a:p>
            <a:pPr algn="ctr"/>
            <a:r>
              <a:rPr lang="nl-NL" sz="2600" dirty="0"/>
              <a:t>2∙5 = 10 </a:t>
            </a:r>
            <a:endParaRPr lang="en-US" sz="2600" dirty="0"/>
          </a:p>
        </p:txBody>
      </p:sp>
      <p:sp>
        <p:nvSpPr>
          <p:cNvPr id="11" name="Tekstvak 10"/>
          <p:cNvSpPr txBox="1"/>
          <p:nvPr/>
        </p:nvSpPr>
        <p:spPr>
          <a:xfrm>
            <a:off x="1919535" y="5517232"/>
            <a:ext cx="100842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600" dirty="0"/>
              <a:t>The least common multiple (LCM) of 60 and 130 is </a:t>
            </a:r>
          </a:p>
          <a:p>
            <a:pPr algn="ctr"/>
            <a:r>
              <a:rPr lang="nl-NL" sz="2600" dirty="0"/>
              <a:t>2∙2∙3∙5∙13</a:t>
            </a:r>
            <a:endParaRPr lang="en-US" sz="2600" dirty="0"/>
          </a:p>
        </p:txBody>
      </p:sp>
      <p:sp>
        <p:nvSpPr>
          <p:cNvPr id="4" name="Rechthoek 3"/>
          <p:cNvSpPr/>
          <p:nvPr/>
        </p:nvSpPr>
        <p:spPr>
          <a:xfrm>
            <a:off x="3931778" y="4246136"/>
            <a:ext cx="216024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hoek 4"/>
          <p:cNvSpPr/>
          <p:nvPr/>
        </p:nvSpPr>
        <p:spPr>
          <a:xfrm>
            <a:off x="7195294" y="4246136"/>
            <a:ext cx="573569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hoek 5"/>
          <p:cNvSpPr/>
          <p:nvPr/>
        </p:nvSpPr>
        <p:spPr>
          <a:xfrm>
            <a:off x="6384032" y="5205541"/>
            <a:ext cx="468052" cy="34581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kstvak 7"/>
          <p:cNvSpPr txBox="1"/>
          <p:nvPr/>
        </p:nvSpPr>
        <p:spPr>
          <a:xfrm>
            <a:off x="3071664" y="1268760"/>
            <a:ext cx="13681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    60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30</a:t>
            </a:r>
          </a:p>
          <a:p>
            <a:r>
              <a:rPr lang="nl-NL" sz="2000" dirty="0"/>
              <a:t>2 -----</a:t>
            </a:r>
          </a:p>
          <a:p>
            <a:r>
              <a:rPr lang="nl-NL" sz="2000" dirty="0"/>
              <a:t>    15</a:t>
            </a:r>
          </a:p>
          <a:p>
            <a:r>
              <a:rPr lang="nl-NL" sz="2000" dirty="0"/>
              <a:t>3 -----</a:t>
            </a:r>
          </a:p>
          <a:p>
            <a:r>
              <a:rPr lang="nl-NL" sz="2000" dirty="0"/>
              <a:t>      5</a:t>
            </a:r>
          </a:p>
          <a:p>
            <a:r>
              <a:rPr lang="nl-NL" sz="2000" dirty="0"/>
              <a:t>5 -----</a:t>
            </a:r>
          </a:p>
          <a:p>
            <a:r>
              <a:rPr lang="nl-NL" sz="2000" dirty="0"/>
              <a:t>      1</a:t>
            </a:r>
            <a:endParaRPr lang="en-US" sz="2000" dirty="0"/>
          </a:p>
        </p:txBody>
      </p:sp>
      <p:sp>
        <p:nvSpPr>
          <p:cNvPr id="14" name="Tekstvak 13"/>
          <p:cNvSpPr txBox="1"/>
          <p:nvPr/>
        </p:nvSpPr>
        <p:spPr>
          <a:xfrm>
            <a:off x="6168008" y="1268761"/>
            <a:ext cx="13681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     130</a:t>
            </a:r>
          </a:p>
          <a:p>
            <a:r>
              <a:rPr lang="nl-NL" sz="2000" dirty="0"/>
              <a:t>  2 ------</a:t>
            </a:r>
          </a:p>
          <a:p>
            <a:r>
              <a:rPr lang="nl-NL" sz="2000" dirty="0"/>
              <a:t>       65</a:t>
            </a:r>
          </a:p>
          <a:p>
            <a:r>
              <a:rPr lang="nl-NL" sz="2000" dirty="0"/>
              <a:t>  5 ------</a:t>
            </a:r>
          </a:p>
          <a:p>
            <a:r>
              <a:rPr lang="nl-NL" sz="2000" dirty="0"/>
              <a:t>       13</a:t>
            </a:r>
          </a:p>
          <a:p>
            <a:r>
              <a:rPr lang="nl-NL" sz="2000" dirty="0"/>
              <a:t>13 ------</a:t>
            </a:r>
          </a:p>
          <a:p>
            <a:r>
              <a:rPr lang="nl-NL" sz="2000" dirty="0"/>
              <a:t>        1</a:t>
            </a:r>
          </a:p>
        </p:txBody>
      </p:sp>
      <p:sp>
        <p:nvSpPr>
          <p:cNvPr id="15" name="Rechthoek 3">
            <a:extLst>
              <a:ext uri="{FF2B5EF4-FFF2-40B4-BE49-F238E27FC236}">
                <a16:creationId xmlns:a16="http://schemas.microsoft.com/office/drawing/2014/main" id="{AB5C446A-D1AD-76F8-75B1-2E0AB380C830}"/>
              </a:ext>
            </a:extLst>
          </p:cNvPr>
          <p:cNvSpPr/>
          <p:nvPr/>
        </p:nvSpPr>
        <p:spPr>
          <a:xfrm>
            <a:off x="4803835" y="4246136"/>
            <a:ext cx="216024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E18016F-335D-806D-FE8E-D3B1B6C6D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018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4" grpId="0" animBg="1"/>
      <p:bldP spid="5" grpId="0" animBg="1"/>
      <p:bldP spid="6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Simplifying fractions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The value of a fraction does not change when numerator and denominator are multiplied by the same number.</a:t>
            </a:r>
          </a:p>
          <a:p>
            <a:r>
              <a:rPr lang="nl-NL" sz="2800" dirty="0"/>
              <a:t>Example:</a:t>
            </a:r>
          </a:p>
          <a:p>
            <a:endParaRPr lang="nl-NL" sz="2800" dirty="0"/>
          </a:p>
          <a:p>
            <a:endParaRPr lang="nl-NL" sz="2800" dirty="0"/>
          </a:p>
          <a:p>
            <a:endParaRPr lang="nl-NL" sz="2800" dirty="0"/>
          </a:p>
          <a:p>
            <a:r>
              <a:rPr lang="nl-NL" sz="2800" dirty="0"/>
              <a:t>Simplify: divide numerator and denominator by the GGD of numerator and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>
              <a:xfrm>
                <a:off x="3049832" y="2656151"/>
                <a:ext cx="2706592" cy="117784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nl-NL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2⋅5</m:t>
                          </m:r>
                        </m:num>
                        <m:den>
                          <m: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3⋅5</m:t>
                          </m:r>
                        </m:den>
                      </m:f>
                      <m:r>
                        <a:rPr lang="nl-NL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nl-NL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nl-NL" sz="32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832" y="2656151"/>
                <a:ext cx="2706592" cy="11778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7476E5-DA34-F288-B78C-27E7AA143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764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 of simplifying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2711449" y="1441450"/>
                <a:ext cx="633167" cy="834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63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49" y="1441450"/>
                <a:ext cx="633167" cy="834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vak 7"/>
          <p:cNvSpPr txBox="1"/>
          <p:nvPr/>
        </p:nvSpPr>
        <p:spPr>
          <a:xfrm>
            <a:off x="2279575" y="2348881"/>
            <a:ext cx="6066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42 = 2∙3∙7</a:t>
            </a:r>
          </a:p>
          <a:p>
            <a:r>
              <a:rPr lang="nl-NL" sz="2800" dirty="0"/>
              <a:t>63 = 3∙3∙7</a:t>
            </a:r>
          </a:p>
          <a:p>
            <a:r>
              <a:rPr lang="nl-NL" sz="2800" dirty="0"/>
              <a:t>So: GGD of 42 and 63 is 3∙7 = 21</a:t>
            </a:r>
          </a:p>
          <a:p>
            <a:endParaRPr lang="nl-NL" sz="2800" dirty="0"/>
          </a:p>
          <a:p>
            <a:r>
              <a:rPr lang="nl-NL" sz="2800" dirty="0"/>
              <a:t>So: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3385914" y="3890797"/>
                <a:ext cx="2321414" cy="704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63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2⋅21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3⋅21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5914" y="3890797"/>
                <a:ext cx="2321414" cy="704853"/>
              </a:xfrm>
              <a:prstGeom prst="rect">
                <a:avLst/>
              </a:prstGeom>
              <a:blipFill>
                <a:blip r:embed="rId3"/>
                <a:stretch>
                  <a:fillRect b="-43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hthoek 2"/>
          <p:cNvSpPr/>
          <p:nvPr/>
        </p:nvSpPr>
        <p:spPr>
          <a:xfrm>
            <a:off x="3461219" y="2431432"/>
            <a:ext cx="524049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hthoek 8"/>
          <p:cNvSpPr/>
          <p:nvPr/>
        </p:nvSpPr>
        <p:spPr>
          <a:xfrm>
            <a:off x="3461218" y="2864575"/>
            <a:ext cx="524049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hoek 10"/>
          <p:cNvSpPr/>
          <p:nvPr/>
        </p:nvSpPr>
        <p:spPr>
          <a:xfrm>
            <a:off x="6311431" y="3284984"/>
            <a:ext cx="576869" cy="36004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95F05F6-DD72-BCC7-6FE4-FC4A93AB8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633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Adding fractions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3200" dirty="0"/>
              <a:t>You add two fractions </a:t>
            </a:r>
            <a:r>
              <a:rPr lang="nl-NL" sz="3200" b="1" dirty="0">
                <a:solidFill>
                  <a:srgbClr val="FF0000"/>
                </a:solidFill>
              </a:rPr>
              <a:t>with the same denominator </a:t>
            </a:r>
            <a:r>
              <a:rPr lang="nl-NL" sz="3200" dirty="0"/>
              <a:t>by adding the numerators, keeping the denominator equal</a:t>
            </a:r>
          </a:p>
          <a:p>
            <a:r>
              <a:rPr lang="nl-NL" sz="3200" dirty="0"/>
              <a:t>Subtraction is addition of its opposite</a:t>
            </a:r>
          </a:p>
          <a:p>
            <a:r>
              <a:rPr lang="nl-NL" sz="3200" dirty="0"/>
              <a:t>Two fractions with different denominators can only be added or subtracted after making them</a:t>
            </a:r>
            <a:r>
              <a:rPr lang="nl-NL" sz="3200" b="1" dirty="0">
                <a:solidFill>
                  <a:srgbClr val="FF0000"/>
                </a:solidFill>
              </a:rPr>
              <a:t> equal </a:t>
            </a:r>
          </a:p>
          <a:p>
            <a:r>
              <a:rPr lang="nl-NL" sz="3200" dirty="0"/>
              <a:t>Making dominators </a:t>
            </a:r>
            <a:r>
              <a:rPr lang="nl-NL" sz="3200" dirty="0" err="1"/>
              <a:t>equal</a:t>
            </a:r>
            <a:r>
              <a:rPr lang="nl-NL" sz="3200" dirty="0"/>
              <a:t> is done with </a:t>
            </a:r>
            <a:r>
              <a:rPr lang="nl-NL" sz="3200" dirty="0" err="1"/>
              <a:t>the</a:t>
            </a:r>
            <a:r>
              <a:rPr lang="nl-NL" sz="3200" dirty="0"/>
              <a:t> LCM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ABAD1-8227-7BC4-751F-D2202392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193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Addition and subtraction 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2207569" y="1549292"/>
                <a:ext cx="1290225" cy="784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9" y="1549292"/>
                <a:ext cx="1290225" cy="7848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3360937" y="1549291"/>
                <a:ext cx="439544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937" y="1549291"/>
                <a:ext cx="439544" cy="7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7127219" y="1549292"/>
                <a:ext cx="889987" cy="784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dirty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219" y="1549292"/>
                <a:ext cx="889987" cy="7848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/>
              <p:cNvSpPr txBox="1"/>
              <p:nvPr/>
            </p:nvSpPr>
            <p:spPr>
              <a:xfrm>
                <a:off x="5735522" y="1549292"/>
                <a:ext cx="1630062" cy="784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17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17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0" name="Tekstvak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522" y="1549292"/>
                <a:ext cx="1630062" cy="7848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2207568" y="2510540"/>
                <a:ext cx="1290225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2510540"/>
                <a:ext cx="1290225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/>
              <p:cNvSpPr txBox="1"/>
              <p:nvPr/>
            </p:nvSpPr>
            <p:spPr>
              <a:xfrm>
                <a:off x="3423337" y="2510540"/>
                <a:ext cx="1290225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" name="Tekstvak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337" y="2510540"/>
                <a:ext cx="1290225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/>
              <p:cNvSpPr txBox="1"/>
              <p:nvPr/>
            </p:nvSpPr>
            <p:spPr>
              <a:xfrm>
                <a:off x="5312008" y="2510539"/>
                <a:ext cx="439544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3" name="Tekstvak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008" y="2510539"/>
                <a:ext cx="43954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/>
              <p:cNvSpPr txBox="1"/>
              <p:nvPr/>
            </p:nvSpPr>
            <p:spPr>
              <a:xfrm>
                <a:off x="4617600" y="2510540"/>
                <a:ext cx="754244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5" name="Tekstvak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600" y="2510540"/>
                <a:ext cx="754244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/>
              <p:cNvSpPr txBox="1"/>
              <p:nvPr/>
            </p:nvSpPr>
            <p:spPr>
              <a:xfrm>
                <a:off x="2207567" y="3501009"/>
                <a:ext cx="1630062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6" name="Tekstvak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7" y="3501009"/>
                <a:ext cx="1630062" cy="7861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vak 16"/>
              <p:cNvSpPr txBox="1"/>
              <p:nvPr/>
            </p:nvSpPr>
            <p:spPr>
              <a:xfrm>
                <a:off x="3844376" y="3501009"/>
                <a:ext cx="1630062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21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7" name="Tekstvak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376" y="3501009"/>
                <a:ext cx="1630062" cy="7861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vak 17"/>
              <p:cNvSpPr txBox="1"/>
              <p:nvPr/>
            </p:nvSpPr>
            <p:spPr>
              <a:xfrm>
                <a:off x="2207567" y="4344469"/>
                <a:ext cx="2056460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15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−3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8" name="Tekstvak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7" y="4344469"/>
                <a:ext cx="2056460" cy="7861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/>
              <p:cNvSpPr txBox="1"/>
              <p:nvPr/>
            </p:nvSpPr>
            <p:spPr>
              <a:xfrm>
                <a:off x="5433814" y="3501009"/>
                <a:ext cx="889987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dirty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17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9" name="Tekstvak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814" y="3501009"/>
                <a:ext cx="889987" cy="7861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vak 19"/>
              <p:cNvSpPr txBox="1"/>
              <p:nvPr/>
            </p:nvSpPr>
            <p:spPr>
              <a:xfrm>
                <a:off x="4060433" y="4344469"/>
                <a:ext cx="2056460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−3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0" name="Tekstvak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433" y="4344469"/>
                <a:ext cx="2056460" cy="7861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/>
              <p:cNvSpPr txBox="1"/>
              <p:nvPr/>
            </p:nvSpPr>
            <p:spPr>
              <a:xfrm>
                <a:off x="2207568" y="5374054"/>
                <a:ext cx="2163349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sz="2400" i="1"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  <m:r>
                            <a:rPr lang="nl-NL" sz="2400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nl-NL" sz="2400" i="1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1" name="Tekstvak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5374054"/>
                <a:ext cx="2163349" cy="9221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/>
              <p:cNvSpPr txBox="1"/>
              <p:nvPr/>
            </p:nvSpPr>
            <p:spPr>
              <a:xfrm>
                <a:off x="8250958" y="4344469"/>
                <a:ext cx="889987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dirty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19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2" name="Tekstvak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958" y="4344469"/>
                <a:ext cx="889987" cy="7861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vak 22"/>
              <p:cNvSpPr txBox="1"/>
              <p:nvPr/>
            </p:nvSpPr>
            <p:spPr>
              <a:xfrm>
                <a:off x="5946227" y="4344469"/>
                <a:ext cx="2379241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>
                          <a:latin typeface="Cambria Math"/>
                        </a:rPr>
                        <m:t>−1+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14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3" name="Tekstvak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227" y="4344469"/>
                <a:ext cx="2379241" cy="7861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kstvak 23"/>
              <p:cNvSpPr txBox="1"/>
              <p:nvPr/>
            </p:nvSpPr>
            <p:spPr>
              <a:xfrm>
                <a:off x="4370916" y="5374054"/>
                <a:ext cx="2673104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 dirty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sz="2400" i="1" dirty="0"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  <m:r>
                            <a:rPr lang="nl-NL" sz="2400" i="1" dirty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nl-NL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 dirty="0">
                                  <a:latin typeface="Cambria Math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nl-NL" sz="2400" i="1" dirty="0"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</m:e>
                      </m:d>
                      <m:r>
                        <a:rPr lang="nl-NL" sz="2400" i="1" dirty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4" name="Tekstvak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916" y="5374054"/>
                <a:ext cx="2673104" cy="92217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vak 24"/>
              <p:cNvSpPr txBox="1"/>
              <p:nvPr/>
            </p:nvSpPr>
            <p:spPr>
              <a:xfrm>
                <a:off x="7151586" y="5438783"/>
                <a:ext cx="2198743" cy="792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nl-NL" sz="2400" i="1" dirty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i="1" dirty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nl-NL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 dirty="0">
                                  <a:latin typeface="Cambria Math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nl-NL" sz="2400" i="1" dirty="0"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</m:e>
                      </m:d>
                      <m:r>
                        <a:rPr lang="nl-NL" sz="2400" i="1" dirty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5" name="Tekstvak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86" y="5438783"/>
                <a:ext cx="2198743" cy="79271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vak 25"/>
              <p:cNvSpPr txBox="1"/>
              <p:nvPr/>
            </p:nvSpPr>
            <p:spPr>
              <a:xfrm>
                <a:off x="9264353" y="5443240"/>
                <a:ext cx="609461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 dirty="0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nl-NL" sz="2400" i="1" dirty="0">
                              <a:latin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6" name="Tekstvak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353" y="5443240"/>
                <a:ext cx="609461" cy="78380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441EB7-537F-2C2E-BA25-30FB61E6B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456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Compound fractions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A compound fraction is a combination of a whole number and a fraction</a:t>
            </a:r>
          </a:p>
          <a:p>
            <a:r>
              <a:rPr lang="nl-NL" sz="2800" dirty="0"/>
              <a:t>A simple fraction is a fraction consisting only of a numerator and a denominator</a:t>
            </a:r>
          </a:p>
          <a:p>
            <a:r>
              <a:rPr lang="nl-NL" sz="2800" dirty="0"/>
              <a:t>You can turn a compound fraction into a simple fraction by turning the whole part into a fraction with the same denominator</a:t>
            </a:r>
          </a:p>
          <a:p>
            <a:r>
              <a:rPr lang="nl-NL" sz="2800" dirty="0"/>
              <a:t>You can turn a simple fraction into a compound fraction </a:t>
            </a:r>
            <a:r>
              <a:rPr lang="nl-NL" sz="2800" dirty="0" err="1"/>
              <a:t>by</a:t>
            </a:r>
            <a:r>
              <a:rPr lang="nl-NL" sz="2800" dirty="0"/>
              <a:t> long </a:t>
            </a:r>
            <a:r>
              <a:rPr lang="nl-NL" sz="2800" dirty="0" err="1"/>
              <a:t>division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18549-BF41-EB40-D75E-D20A13293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367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vak 17"/>
              <p:cNvSpPr txBox="1"/>
              <p:nvPr/>
            </p:nvSpPr>
            <p:spPr>
              <a:xfrm>
                <a:off x="2550457" y="4705297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8" name="Tekstvak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457" y="4705297"/>
                <a:ext cx="43954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2549493" y="4032093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493" y="4032093"/>
                <a:ext cx="43954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2351584" y="4032092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4032092"/>
                <a:ext cx="43954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/>
              <p:cNvSpPr txBox="1"/>
              <p:nvPr/>
            </p:nvSpPr>
            <p:spPr>
              <a:xfrm>
                <a:off x="2207471" y="3571896"/>
                <a:ext cx="6094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27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" name="Tekstvak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471" y="3571896"/>
                <a:ext cx="60946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/>
              <p:cNvSpPr txBox="1"/>
              <p:nvPr/>
            </p:nvSpPr>
            <p:spPr>
              <a:xfrm>
                <a:off x="3360069" y="3164138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3" name="Tekstvak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69" y="3164138"/>
                <a:ext cx="43954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2599988" y="3497928"/>
                <a:ext cx="3353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988" y="3497928"/>
                <a:ext cx="335348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/>
              <p:cNvSpPr txBox="1"/>
              <p:nvPr/>
            </p:nvSpPr>
            <p:spPr>
              <a:xfrm>
                <a:off x="3531991" y="3164138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5" name="Tekstvak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991" y="3164138"/>
                <a:ext cx="4395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/>
              <p:cNvSpPr txBox="1"/>
              <p:nvPr/>
            </p:nvSpPr>
            <p:spPr>
              <a:xfrm>
                <a:off x="2380539" y="4392268"/>
                <a:ext cx="6094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72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6" name="Tekstvak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539" y="4392268"/>
                <a:ext cx="609461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vak 16"/>
              <p:cNvSpPr txBox="1"/>
              <p:nvPr/>
            </p:nvSpPr>
            <p:spPr>
              <a:xfrm>
                <a:off x="2761250" y="4705296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7" name="Tekstvak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250" y="4705296"/>
                <a:ext cx="43954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/>
              <p:cNvSpPr txBox="1"/>
              <p:nvPr/>
            </p:nvSpPr>
            <p:spPr>
              <a:xfrm>
                <a:off x="2811745" y="3504764"/>
                <a:ext cx="3353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9" name="Tekstvak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745" y="3504764"/>
                <a:ext cx="335348" cy="13234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/>
              <p:cNvSpPr txBox="1"/>
              <p:nvPr/>
            </p:nvSpPr>
            <p:spPr>
              <a:xfrm>
                <a:off x="3738117" y="3164137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1" name="Tekstvak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17" y="3164137"/>
                <a:ext cx="43954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/>
              <p:cNvSpPr txBox="1"/>
              <p:nvPr/>
            </p:nvSpPr>
            <p:spPr>
              <a:xfrm>
                <a:off x="2762213" y="5281361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2" name="Tekstvak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13" y="5281361"/>
                <a:ext cx="439544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vak 22"/>
              <p:cNvSpPr txBox="1"/>
              <p:nvPr/>
            </p:nvSpPr>
            <p:spPr>
              <a:xfrm>
                <a:off x="2600529" y="4982091"/>
                <a:ext cx="5741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  9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3" name="Tekstvak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529" y="4982091"/>
                <a:ext cx="574195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kstvak 23"/>
              <p:cNvSpPr txBox="1"/>
              <p:nvPr/>
            </p:nvSpPr>
            <p:spPr>
              <a:xfrm>
                <a:off x="2989782" y="3504763"/>
                <a:ext cx="33534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4" name="Tekstvak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782" y="3504763"/>
                <a:ext cx="335348" cy="193899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vak 24"/>
              <p:cNvSpPr txBox="1"/>
              <p:nvPr/>
            </p:nvSpPr>
            <p:spPr>
              <a:xfrm>
                <a:off x="2936556" y="5278406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5" name="Tekstvak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556" y="5278406"/>
                <a:ext cx="439544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vak 25"/>
              <p:cNvSpPr txBox="1"/>
              <p:nvPr/>
            </p:nvSpPr>
            <p:spPr>
              <a:xfrm>
                <a:off x="2794570" y="5664593"/>
                <a:ext cx="6094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45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6" name="Tekstvak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570" y="5664593"/>
                <a:ext cx="609461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kstvak 26"/>
              <p:cNvSpPr txBox="1"/>
              <p:nvPr/>
            </p:nvSpPr>
            <p:spPr>
              <a:xfrm>
                <a:off x="3930851" y="3164138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7" name="Tekstvak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851" y="3164138"/>
                <a:ext cx="439544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vak 27"/>
              <p:cNvSpPr txBox="1"/>
              <p:nvPr/>
            </p:nvSpPr>
            <p:spPr>
              <a:xfrm>
                <a:off x="2939287" y="6073449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8" name="Tekstvak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87" y="6073449"/>
                <a:ext cx="439544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kstvak 28"/>
          <p:cNvSpPr txBox="1"/>
          <p:nvPr/>
        </p:nvSpPr>
        <p:spPr>
          <a:xfrm>
            <a:off x="4354365" y="3150452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/>
              <a:t>remainder</a:t>
            </a:r>
            <a:r>
              <a:rPr lang="nl-NL" sz="2400" dirty="0"/>
              <a:t> 4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vak 29"/>
              <p:cNvSpPr txBox="1"/>
              <p:nvPr/>
            </p:nvSpPr>
            <p:spPr>
              <a:xfrm>
                <a:off x="2647867" y="2129574"/>
                <a:ext cx="1119217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34339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30" name="Tekstvak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867" y="2129574"/>
                <a:ext cx="1119217" cy="7861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vak 30"/>
              <p:cNvSpPr txBox="1"/>
              <p:nvPr/>
            </p:nvSpPr>
            <p:spPr>
              <a:xfrm>
                <a:off x="1980638" y="1268761"/>
                <a:ext cx="2660728" cy="784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3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21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23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31" name="Tekstvak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38" y="1268761"/>
                <a:ext cx="2660728" cy="78489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vak 31"/>
              <p:cNvSpPr txBox="1"/>
              <p:nvPr/>
            </p:nvSpPr>
            <p:spPr>
              <a:xfrm>
                <a:off x="6456040" y="1200119"/>
                <a:ext cx="3464346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−1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=−</m:t>
                      </m:r>
                      <m:d>
                        <m:d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nl-NL" sz="2400" i="1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  <m:r>
                            <a:rPr lang="nl-NL" sz="240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400" i="1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nl-NL" sz="2400" i="1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nl-NL" sz="24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32" name="Tekstvak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1200119"/>
                <a:ext cx="3464346" cy="92217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kstvak 32"/>
              <p:cNvSpPr txBox="1"/>
              <p:nvPr/>
            </p:nvSpPr>
            <p:spPr>
              <a:xfrm>
                <a:off x="3652823" y="5024098"/>
                <a:ext cx="2404248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34339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=3815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33" name="Tekstvak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823" y="5024098"/>
                <a:ext cx="2404248" cy="7861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vak 54"/>
              <p:cNvSpPr txBox="1"/>
              <p:nvPr/>
            </p:nvSpPr>
            <p:spPr>
              <a:xfrm>
                <a:off x="7209839" y="4665076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5" name="Tekstvak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839" y="4665076"/>
                <a:ext cx="439544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vak 55"/>
              <p:cNvSpPr txBox="1"/>
              <p:nvPr/>
            </p:nvSpPr>
            <p:spPr>
              <a:xfrm>
                <a:off x="7208875" y="3991872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6" name="Tekstvak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875" y="3991872"/>
                <a:ext cx="439544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kstvak 56"/>
              <p:cNvSpPr txBox="1"/>
              <p:nvPr/>
            </p:nvSpPr>
            <p:spPr>
              <a:xfrm>
                <a:off x="7069181" y="3993340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7" name="Tekstvak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181" y="3993340"/>
                <a:ext cx="439544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vak 57"/>
              <p:cNvSpPr txBox="1"/>
              <p:nvPr/>
            </p:nvSpPr>
            <p:spPr>
              <a:xfrm>
                <a:off x="6866853" y="3531675"/>
                <a:ext cx="6415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   7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8" name="Tekstvak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853" y="3531675"/>
                <a:ext cx="641521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kstvak 58"/>
              <p:cNvSpPr txBox="1"/>
              <p:nvPr/>
            </p:nvSpPr>
            <p:spPr>
              <a:xfrm>
                <a:off x="8019451" y="3123917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9" name="Tekstvak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451" y="3123917"/>
                <a:ext cx="439544" cy="46166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kstvak 60"/>
              <p:cNvSpPr txBox="1"/>
              <p:nvPr/>
            </p:nvSpPr>
            <p:spPr>
              <a:xfrm>
                <a:off x="7259370" y="3457707"/>
                <a:ext cx="3353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1" name="Tekstvak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70" y="3457707"/>
                <a:ext cx="335348" cy="707886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kstvak 61"/>
              <p:cNvSpPr txBox="1"/>
              <p:nvPr/>
            </p:nvSpPr>
            <p:spPr>
              <a:xfrm>
                <a:off x="8191373" y="3123917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2" name="Tekstvak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373" y="3123917"/>
                <a:ext cx="439544" cy="46166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kstvak 62"/>
              <p:cNvSpPr txBox="1"/>
              <p:nvPr/>
            </p:nvSpPr>
            <p:spPr>
              <a:xfrm>
                <a:off x="7039921" y="4352047"/>
                <a:ext cx="6094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56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3" name="Tekstvak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921" y="4352047"/>
                <a:ext cx="609461" cy="46166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kstvak 63"/>
              <p:cNvSpPr txBox="1"/>
              <p:nvPr/>
            </p:nvSpPr>
            <p:spPr>
              <a:xfrm>
                <a:off x="7420632" y="4665075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4" name="Tekstvak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632" y="4665075"/>
                <a:ext cx="439544" cy="46166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kstvak 64"/>
              <p:cNvSpPr txBox="1"/>
              <p:nvPr/>
            </p:nvSpPr>
            <p:spPr>
              <a:xfrm>
                <a:off x="7471127" y="3464543"/>
                <a:ext cx="3353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5" name="Tekstvak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127" y="3464543"/>
                <a:ext cx="335348" cy="132343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kstvak 65"/>
              <p:cNvSpPr txBox="1"/>
              <p:nvPr/>
            </p:nvSpPr>
            <p:spPr>
              <a:xfrm>
                <a:off x="8397499" y="3123916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6" name="Tekstvak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499" y="3123916"/>
                <a:ext cx="439544" cy="46166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kstvak 66"/>
              <p:cNvSpPr txBox="1"/>
              <p:nvPr/>
            </p:nvSpPr>
            <p:spPr>
              <a:xfrm>
                <a:off x="7421595" y="5241140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7" name="Tekstvak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595" y="5241140"/>
                <a:ext cx="439544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kstvak 67"/>
              <p:cNvSpPr txBox="1"/>
              <p:nvPr/>
            </p:nvSpPr>
            <p:spPr>
              <a:xfrm>
                <a:off x="7259911" y="4941870"/>
                <a:ext cx="5741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  0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8" name="Tekstvak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911" y="4941870"/>
                <a:ext cx="574195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kstvak 68"/>
              <p:cNvSpPr txBox="1"/>
              <p:nvPr/>
            </p:nvSpPr>
            <p:spPr>
              <a:xfrm>
                <a:off x="7649164" y="3464542"/>
                <a:ext cx="33534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9" name="Tekstvak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164" y="3464542"/>
                <a:ext cx="335348" cy="193899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kstvak 69"/>
              <p:cNvSpPr txBox="1"/>
              <p:nvPr/>
            </p:nvSpPr>
            <p:spPr>
              <a:xfrm>
                <a:off x="7595938" y="5238185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0" name="Tekstvak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938" y="5238185"/>
                <a:ext cx="439544" cy="461665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kstvak 70"/>
              <p:cNvSpPr txBox="1"/>
              <p:nvPr/>
            </p:nvSpPr>
            <p:spPr>
              <a:xfrm>
                <a:off x="7453952" y="5624372"/>
                <a:ext cx="6094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 u="sng">
                          <a:latin typeface="Cambria Math"/>
                        </a:rPr>
                        <m:t>21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1" name="Tekstvak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952" y="5624372"/>
                <a:ext cx="609461" cy="46166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kstvak 71"/>
              <p:cNvSpPr txBox="1"/>
              <p:nvPr/>
            </p:nvSpPr>
            <p:spPr>
              <a:xfrm>
                <a:off x="8590233" y="3123917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2" name="Tekstvak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0233" y="3123917"/>
                <a:ext cx="439544" cy="46166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kstvak 72"/>
              <p:cNvSpPr txBox="1"/>
              <p:nvPr/>
            </p:nvSpPr>
            <p:spPr>
              <a:xfrm>
                <a:off x="7623215" y="6033228"/>
                <a:ext cx="439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3" name="Tekstvak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215" y="6033228"/>
                <a:ext cx="439544" cy="46166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kstvak 74"/>
              <p:cNvSpPr txBox="1"/>
              <p:nvPr/>
            </p:nvSpPr>
            <p:spPr>
              <a:xfrm>
                <a:off x="6533994" y="2089352"/>
                <a:ext cx="1119217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12625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5" name="Tekstvak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994" y="2089352"/>
                <a:ext cx="1119217" cy="792396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kstvak 75"/>
              <p:cNvSpPr txBox="1"/>
              <p:nvPr/>
            </p:nvSpPr>
            <p:spPr>
              <a:xfrm>
                <a:off x="8312205" y="4983877"/>
                <a:ext cx="2404248" cy="793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12625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nl-NL" sz="2400" i="1">
                          <a:latin typeface="Cambria Math"/>
                        </a:rPr>
                        <m:t>=1803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400" i="1"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76" name="Tekstvak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205" y="4983877"/>
                <a:ext cx="2404248" cy="79367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C9782-6CE5-0987-B854-CAC78727A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16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13">
                <a:extLst>
                  <a:ext uri="{FF2B5EF4-FFF2-40B4-BE49-F238E27FC236}">
                    <a16:creationId xmlns:a16="http://schemas.microsoft.com/office/drawing/2014/main" id="{6384A1E2-91AC-5F50-ED98-F6ABBF26BDAA}"/>
                  </a:ext>
                </a:extLst>
              </p:cNvPr>
              <p:cNvSpPr txBox="1"/>
              <p:nvPr/>
            </p:nvSpPr>
            <p:spPr>
              <a:xfrm>
                <a:off x="1907810" y="3168952"/>
                <a:ext cx="1510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2400" i="1">
                        <a:latin typeface="Cambria Math"/>
                      </a:rPr>
                      <m:t>9</m:t>
                    </m:r>
                  </m:oMath>
                </a14:m>
                <a:r>
                  <a:rPr lang="nl-NL" sz="2400" dirty="0"/>
                  <a:t> /</a:t>
                </a:r>
                <a14:m>
                  <m:oMath xmlns:m="http://schemas.openxmlformats.org/officeDocument/2006/math">
                    <m:r>
                      <a:rPr lang="nl-NL" sz="2400" i="1">
                        <a:latin typeface="Cambria Math"/>
                      </a:rPr>
                      <m:t>34339</m:t>
                    </m:r>
                  </m:oMath>
                </a14:m>
                <a:r>
                  <a:rPr lang="en-US" sz="2400" dirty="0"/>
                  <a:t>\</a:t>
                </a:r>
              </a:p>
            </p:txBody>
          </p:sp>
        </mc:Choice>
        <mc:Fallback xmlns="">
          <p:sp>
            <p:nvSpPr>
              <p:cNvPr id="6" name="Tekstvak 13">
                <a:extLst>
                  <a:ext uri="{FF2B5EF4-FFF2-40B4-BE49-F238E27FC236}">
                    <a16:creationId xmlns:a16="http://schemas.microsoft.com/office/drawing/2014/main" id="{6384A1E2-91AC-5F50-ED98-F6ABBF26B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810" y="3168952"/>
                <a:ext cx="1510350" cy="461665"/>
              </a:xfrm>
              <a:prstGeom prst="rect">
                <a:avLst/>
              </a:prstGeom>
              <a:blipFill>
                <a:blip r:embed="rId48"/>
                <a:stretch>
                  <a:fillRect l="-1210" t="-9211" r="-2016" b="-3026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59">
                <a:extLst>
                  <a:ext uri="{FF2B5EF4-FFF2-40B4-BE49-F238E27FC236}">
                    <a16:creationId xmlns:a16="http://schemas.microsoft.com/office/drawing/2014/main" id="{09AE06B8-8CAC-25F4-76D4-FF0F43C504E8}"/>
                  </a:ext>
                </a:extLst>
              </p:cNvPr>
              <p:cNvSpPr txBox="1"/>
              <p:nvPr/>
            </p:nvSpPr>
            <p:spPr>
              <a:xfrm>
                <a:off x="6567192" y="3128731"/>
                <a:ext cx="1510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2400" i="1">
                        <a:latin typeface="Cambria Math"/>
                      </a:rPr>
                      <m:t>7</m:t>
                    </m:r>
                  </m:oMath>
                </a14:m>
                <a:r>
                  <a:rPr lang="nl-NL" sz="2400" dirty="0"/>
                  <a:t> /</a:t>
                </a:r>
                <a14:m>
                  <m:oMath xmlns:m="http://schemas.openxmlformats.org/officeDocument/2006/math">
                    <m:r>
                      <a:rPr lang="nl-NL" sz="2400" i="1">
                        <a:latin typeface="Cambria Math"/>
                      </a:rPr>
                      <m:t>12625</m:t>
                    </m:r>
                  </m:oMath>
                </a14:m>
                <a:r>
                  <a:rPr lang="en-US" sz="2400" dirty="0"/>
                  <a:t>\</a:t>
                </a:r>
              </a:p>
            </p:txBody>
          </p:sp>
        </mc:Choice>
        <mc:Fallback xmlns="">
          <p:sp>
            <p:nvSpPr>
              <p:cNvPr id="7" name="Tekstvak 59">
                <a:extLst>
                  <a:ext uri="{FF2B5EF4-FFF2-40B4-BE49-F238E27FC236}">
                    <a16:creationId xmlns:a16="http://schemas.microsoft.com/office/drawing/2014/main" id="{09AE06B8-8CAC-25F4-76D4-FF0F43C50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192" y="3128731"/>
                <a:ext cx="1510350" cy="461665"/>
              </a:xfrm>
              <a:prstGeom prst="rect">
                <a:avLst/>
              </a:prstGeom>
              <a:blipFill>
                <a:blip r:embed="rId49"/>
                <a:stretch>
                  <a:fillRect l="-806" t="-9211" r="-2419" b="-3026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vak 28">
            <a:extLst>
              <a:ext uri="{FF2B5EF4-FFF2-40B4-BE49-F238E27FC236}">
                <a16:creationId xmlns:a16="http://schemas.microsoft.com/office/drawing/2014/main" id="{3AC62014-8741-7F61-8215-029B8ABFBEC1}"/>
              </a:ext>
            </a:extLst>
          </p:cNvPr>
          <p:cNvSpPr txBox="1"/>
          <p:nvPr/>
        </p:nvSpPr>
        <p:spPr>
          <a:xfrm>
            <a:off x="9058553" y="3090295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/>
              <a:t>remainder</a:t>
            </a:r>
            <a:r>
              <a:rPr lang="nl-NL" sz="2400" dirty="0"/>
              <a:t> 4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010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/>
      <p:bldP spid="11" grpId="0"/>
      <p:bldP spid="12" grpId="0"/>
      <p:bldP spid="13" grpId="0"/>
      <p:bldP spid="3" grpId="0"/>
      <p:bldP spid="15" grpId="0"/>
      <p:bldP spid="16" grpId="0"/>
      <p:bldP spid="17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55" grpId="0"/>
      <p:bldP spid="56" grpId="0"/>
      <p:bldP spid="57" grpId="0"/>
      <p:bldP spid="58" grpId="0"/>
      <p:bldP spid="59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5" grpId="0"/>
      <p:bldP spid="76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Multiplying fractions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DO NOT: </a:t>
            </a:r>
            <a:r>
              <a:rPr lang="nl-NL" sz="2800" dirty="0" err="1"/>
              <a:t>equalise</a:t>
            </a:r>
            <a:r>
              <a:rPr lang="nl-NL" sz="2800" dirty="0"/>
              <a:t> dominators</a:t>
            </a:r>
          </a:p>
          <a:p>
            <a:r>
              <a:rPr lang="nl-NL" sz="2800" dirty="0"/>
              <a:t>DO: make simple fractions</a:t>
            </a:r>
          </a:p>
          <a:p>
            <a:r>
              <a:rPr lang="nl-NL" sz="2800" dirty="0"/>
              <a:t>Multiply numerators, and multiply denominators</a:t>
            </a:r>
          </a:p>
          <a:p>
            <a:r>
              <a:rPr lang="nl-NL" sz="2800" dirty="0"/>
              <a:t>See if you can simplify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151784" y="4653136"/>
          <a:ext cx="2145238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609480" progId="Equation.DSMT4">
                  <p:embed/>
                </p:oleObj>
              </mc:Choice>
              <mc:Fallback>
                <p:oleObj name="Equation" r:id="rId2" imgW="1650960" imgH="609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1784" y="4653136"/>
                        <a:ext cx="2145238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351584" y="4653136"/>
          <a:ext cx="144016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609480" progId="Equation.DSMT4">
                  <p:embed/>
                </p:oleObj>
              </mc:Choice>
              <mc:Fallback>
                <p:oleObj name="Equation" r:id="rId4" imgW="1015920" imgH="60948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653136"/>
                        <a:ext cx="1440160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672064" y="4653137"/>
          <a:ext cx="3647702" cy="792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609480" progId="Equation.DSMT4">
                  <p:embed/>
                </p:oleObj>
              </mc:Choice>
              <mc:Fallback>
                <p:oleObj name="Equation" r:id="rId6" imgW="2806560" imgH="60948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4653137"/>
                        <a:ext cx="3647702" cy="792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Rechte verbindingslijn 8"/>
          <p:cNvCxnSpPr/>
          <p:nvPr/>
        </p:nvCxnSpPr>
        <p:spPr>
          <a:xfrm flipV="1">
            <a:off x="8904312" y="4653136"/>
            <a:ext cx="288032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/>
          <p:cNvCxnSpPr/>
          <p:nvPr/>
        </p:nvCxnSpPr>
        <p:spPr>
          <a:xfrm flipV="1">
            <a:off x="9264352" y="5229200"/>
            <a:ext cx="288032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684638-D000-A971-A684-43659C24B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776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Dividing fractions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To divide is to multiply by </a:t>
            </a:r>
            <a:r>
              <a:rPr lang="nl-NL" sz="2800" dirty="0" err="1"/>
              <a:t>the</a:t>
            </a:r>
            <a:r>
              <a:rPr lang="nl-NL" sz="2800" dirty="0"/>
              <a:t> </a:t>
            </a:r>
            <a:r>
              <a:rPr lang="nl-NL" sz="2800" dirty="0" err="1"/>
              <a:t>reciprocal</a:t>
            </a:r>
            <a:endParaRPr lang="en-US" sz="28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67609" y="2348880"/>
          <a:ext cx="2430685" cy="1224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888840" progId="Equation.DSMT4">
                  <p:embed/>
                </p:oleObj>
              </mc:Choice>
              <mc:Fallback>
                <p:oleObj name="Equation" r:id="rId2" imgW="1765080" imgH="88884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2348880"/>
                        <a:ext cx="2430685" cy="1224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447928" y="2420888"/>
          <a:ext cx="3366374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914400" progId="Equation.DSMT4">
                  <p:embed/>
                </p:oleObj>
              </mc:Choice>
              <mc:Fallback>
                <p:oleObj name="Equation" r:id="rId4" imgW="2514600" imgH="9144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2420888"/>
                        <a:ext cx="3366374" cy="1224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567608" y="4005064"/>
          <a:ext cx="2164896" cy="1658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1206360" progId="Equation.DSMT4">
                  <p:embed/>
                </p:oleObj>
              </mc:Choice>
              <mc:Fallback>
                <p:oleObj name="Equation" r:id="rId6" imgW="1574640" imgH="120636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005064"/>
                        <a:ext cx="2164896" cy="1658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591944" y="4005064"/>
          <a:ext cx="3240360" cy="159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50880" imgH="1206360" progId="Equation.DSMT4">
                  <p:embed/>
                </p:oleObj>
              </mc:Choice>
              <mc:Fallback>
                <p:oleObj name="Equation" r:id="rId8" imgW="2450880" imgH="12063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4005064"/>
                        <a:ext cx="3240360" cy="1594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Rechte verbindingslijn 8"/>
          <p:cNvCxnSpPr/>
          <p:nvPr/>
        </p:nvCxnSpPr>
        <p:spPr>
          <a:xfrm flipV="1">
            <a:off x="7248128" y="4439829"/>
            <a:ext cx="288032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/>
          <p:cNvCxnSpPr/>
          <p:nvPr/>
        </p:nvCxnSpPr>
        <p:spPr>
          <a:xfrm>
            <a:off x="9048328" y="476114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/>
          <p:cNvCxnSpPr/>
          <p:nvPr/>
        </p:nvCxnSpPr>
        <p:spPr>
          <a:xfrm flipV="1">
            <a:off x="7392144" y="4941168"/>
            <a:ext cx="288032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2AD9CFB-7EB4-C65F-F0AC-C6D7E33F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344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Working out brackets</a:t>
            </a:r>
            <a:endParaRPr lang="en-US" dirty="0"/>
          </a:p>
        </p:txBody>
      </p:sp>
      <p:sp>
        <p:nvSpPr>
          <p:cNvPr id="4" name="Rechthoek 3"/>
          <p:cNvSpPr/>
          <p:nvPr/>
        </p:nvSpPr>
        <p:spPr>
          <a:xfrm>
            <a:off x="3071664" y="2060848"/>
            <a:ext cx="1512168" cy="720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hoek 4"/>
          <p:cNvSpPr/>
          <p:nvPr/>
        </p:nvSpPr>
        <p:spPr>
          <a:xfrm>
            <a:off x="4583832" y="2060848"/>
            <a:ext cx="936104" cy="72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kstvak 8"/>
          <p:cNvSpPr txBox="1"/>
          <p:nvPr/>
        </p:nvSpPr>
        <p:spPr>
          <a:xfrm>
            <a:off x="2567608" y="3331344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green rectangle:</a:t>
            </a:r>
            <a:endParaRPr lang="en-US" sz="2800" dirty="0"/>
          </a:p>
        </p:txBody>
      </p:sp>
      <p:sp>
        <p:nvSpPr>
          <p:cNvPr id="10" name="Tekstvak 9"/>
          <p:cNvSpPr txBox="1"/>
          <p:nvPr/>
        </p:nvSpPr>
        <p:spPr>
          <a:xfrm>
            <a:off x="2567608" y="3771531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red rectangle:</a:t>
            </a:r>
            <a:endParaRPr lang="en-US" sz="2800" dirty="0"/>
          </a:p>
        </p:txBody>
      </p:sp>
      <p:sp>
        <p:nvSpPr>
          <p:cNvPr id="11" name="Tekstvak 10"/>
          <p:cNvSpPr txBox="1"/>
          <p:nvPr/>
        </p:nvSpPr>
        <p:spPr>
          <a:xfrm>
            <a:off x="2567608" y="4293096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total rectangle:</a:t>
            </a:r>
            <a:endParaRPr lang="en-US" sz="2800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533397"/>
              </p:ext>
            </p:extLst>
          </p:nvPr>
        </p:nvGraphicFramePr>
        <p:xfrm>
          <a:off x="7694883" y="3463926"/>
          <a:ext cx="574675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480" imgH="190440" progId="Equation.DSMT4">
                  <p:embed/>
                </p:oleObj>
              </mc:Choice>
              <mc:Fallback>
                <p:oleObj name="Equation" r:id="rId2" imgW="393480" imgH="19044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4883" y="3463926"/>
                        <a:ext cx="574675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438005"/>
              </p:ext>
            </p:extLst>
          </p:nvPr>
        </p:nvGraphicFramePr>
        <p:xfrm>
          <a:off x="7703496" y="3856929"/>
          <a:ext cx="6127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41200" progId="Equation.DSMT4">
                  <p:embed/>
                </p:oleObj>
              </mc:Choice>
              <mc:Fallback>
                <p:oleObj name="Equation" r:id="rId4" imgW="419040" imgH="24120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496" y="3856929"/>
                        <a:ext cx="6127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653335" y="2924945"/>
          <a:ext cx="2222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90440" progId="Equation.DSMT4">
                  <p:embed/>
                </p:oleObj>
              </mc:Choice>
              <mc:Fallback>
                <p:oleObj name="Equation" r:id="rId6" imgW="152280" imgH="19044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335" y="2924945"/>
                        <a:ext cx="2222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870662" y="2852937"/>
          <a:ext cx="25717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41200" progId="Equation.DSMT4">
                  <p:embed/>
                </p:oleObj>
              </mc:Choice>
              <mc:Fallback>
                <p:oleObj name="Equation" r:id="rId8" imgW="177480" imgH="24120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662" y="2852937"/>
                        <a:ext cx="25717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2602122" y="2281982"/>
          <a:ext cx="24130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190440" progId="Equation.DSMT4">
                  <p:embed/>
                </p:oleObj>
              </mc:Choice>
              <mc:Fallback>
                <p:oleObj name="Equation" r:id="rId10" imgW="164880" imgH="19044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122" y="2281982"/>
                        <a:ext cx="241300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447719"/>
              </p:ext>
            </p:extLst>
          </p:nvPr>
        </p:nvGraphicFramePr>
        <p:xfrm>
          <a:off x="7714242" y="4337051"/>
          <a:ext cx="13906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200" imgH="355320" progId="Equation.DSMT4">
                  <p:embed/>
                </p:oleObj>
              </mc:Choice>
              <mc:Fallback>
                <p:oleObj name="Equation" r:id="rId12" imgW="952200" imgH="35532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4242" y="4337051"/>
                        <a:ext cx="13906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kstvak 17"/>
          <p:cNvSpPr txBox="1"/>
          <p:nvPr/>
        </p:nvSpPr>
        <p:spPr>
          <a:xfrm>
            <a:off x="2567607" y="4818309"/>
            <a:ext cx="948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</a:t>
            </a:r>
            <a:endParaRPr lang="en-US" sz="2800" dirty="0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3413125" y="4835526"/>
          <a:ext cx="31369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5960" imgH="355320" progId="Equation.DSMT4">
                  <p:embed/>
                </p:oleObj>
              </mc:Choice>
              <mc:Fallback>
                <p:oleObj name="Equation" r:id="rId14" imgW="2145960" imgH="35532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4835526"/>
                        <a:ext cx="31369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kstvak 20"/>
          <p:cNvSpPr txBox="1"/>
          <p:nvPr/>
        </p:nvSpPr>
        <p:spPr>
          <a:xfrm>
            <a:off x="2567607" y="5461384"/>
            <a:ext cx="8227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The </a:t>
            </a:r>
            <a:r>
              <a:rPr lang="nl-NL" sz="2800" dirty="0" err="1"/>
              <a:t>multiplication</a:t>
            </a:r>
            <a:r>
              <a:rPr lang="nl-NL" sz="2800" dirty="0"/>
              <a:t> sign (the dot) is often omitted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E5A6A-7024-603B-68D0-29E23D7BA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723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8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781464"/>
              </p:ext>
            </p:extLst>
          </p:nvPr>
        </p:nvGraphicFramePr>
        <p:xfrm>
          <a:off x="3568188" y="1438031"/>
          <a:ext cx="24320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355320" progId="Equation.DSMT4">
                  <p:embed/>
                </p:oleObj>
              </mc:Choice>
              <mc:Fallback>
                <p:oleObj name="Equation" r:id="rId2" imgW="1663560" imgH="35532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188" y="1438031"/>
                        <a:ext cx="24320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293624"/>
              </p:ext>
            </p:extLst>
          </p:nvPr>
        </p:nvGraphicFramePr>
        <p:xfrm>
          <a:off x="3550727" y="2158756"/>
          <a:ext cx="30432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355320" progId="Equation.DSMT4">
                  <p:embed/>
                </p:oleObj>
              </mc:Choice>
              <mc:Fallback>
                <p:oleObj name="Equation" r:id="rId4" imgW="2082600" imgH="35532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727" y="2158756"/>
                        <a:ext cx="30432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721461"/>
              </p:ext>
            </p:extLst>
          </p:nvPr>
        </p:nvGraphicFramePr>
        <p:xfrm>
          <a:off x="3596168" y="2878290"/>
          <a:ext cx="28019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355320" progId="Equation.DSMT4">
                  <p:embed/>
                </p:oleObj>
              </mc:Choice>
              <mc:Fallback>
                <p:oleObj name="Equation" r:id="rId6" imgW="1917360" imgH="35532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168" y="2878290"/>
                        <a:ext cx="28019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77914"/>
              </p:ext>
            </p:extLst>
          </p:nvPr>
        </p:nvGraphicFramePr>
        <p:xfrm>
          <a:off x="3596168" y="3598370"/>
          <a:ext cx="36369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355320" progId="Equation.DSMT4">
                  <p:embed/>
                </p:oleObj>
              </mc:Choice>
              <mc:Fallback>
                <p:oleObj name="Equation" r:id="rId8" imgW="2489040" imgH="35532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168" y="3598370"/>
                        <a:ext cx="36369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829538"/>
              </p:ext>
            </p:extLst>
          </p:nvPr>
        </p:nvGraphicFramePr>
        <p:xfrm>
          <a:off x="3596168" y="4318450"/>
          <a:ext cx="35433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25680" imgH="368280" progId="Equation.DSMT4">
                  <p:embed/>
                </p:oleObj>
              </mc:Choice>
              <mc:Fallback>
                <p:oleObj name="Equation" r:id="rId10" imgW="2425680" imgH="36828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168" y="4318450"/>
                        <a:ext cx="35433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91EAD-1E45-D5FA-1629-5EEAEAB6D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504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3071664" y="1484784"/>
            <a:ext cx="1512168" cy="720080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hoek 4"/>
          <p:cNvSpPr/>
          <p:nvPr/>
        </p:nvSpPr>
        <p:spPr>
          <a:xfrm>
            <a:off x="4583832" y="1484784"/>
            <a:ext cx="936104" cy="720080"/>
          </a:xfrm>
          <a:prstGeom prst="rect">
            <a:avLst/>
          </a:prstGeom>
          <a:solidFill>
            <a:srgbClr val="F08B8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kstvak 8"/>
          <p:cNvSpPr txBox="1"/>
          <p:nvPr/>
        </p:nvSpPr>
        <p:spPr>
          <a:xfrm>
            <a:off x="2515327" y="2719028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blue rectangle:</a:t>
            </a:r>
            <a:endParaRPr lang="en-US" sz="2800" dirty="0"/>
          </a:p>
        </p:txBody>
      </p:sp>
      <p:sp>
        <p:nvSpPr>
          <p:cNvPr id="10" name="Tekstvak 9"/>
          <p:cNvSpPr txBox="1"/>
          <p:nvPr/>
        </p:nvSpPr>
        <p:spPr>
          <a:xfrm>
            <a:off x="2515327" y="3232140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red rectangle:</a:t>
            </a:r>
            <a:endParaRPr lang="en-US" sz="2800" dirty="0"/>
          </a:p>
        </p:txBody>
      </p:sp>
      <p:sp>
        <p:nvSpPr>
          <p:cNvPr id="11" name="Tekstvak 10"/>
          <p:cNvSpPr txBox="1"/>
          <p:nvPr/>
        </p:nvSpPr>
        <p:spPr>
          <a:xfrm>
            <a:off x="2515327" y="4704356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total rectangle:</a:t>
            </a:r>
            <a:endParaRPr lang="en-US" sz="2800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231500"/>
              </p:ext>
            </p:extLst>
          </p:nvPr>
        </p:nvGraphicFramePr>
        <p:xfrm>
          <a:off x="7984181" y="2831097"/>
          <a:ext cx="574675" cy="278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480" imgH="190440" progId="Equation.DSMT4">
                  <p:embed/>
                </p:oleObj>
              </mc:Choice>
              <mc:Fallback>
                <p:oleObj name="Equation" r:id="rId3" imgW="393480" imgH="19044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4181" y="2831097"/>
                        <a:ext cx="574675" cy="278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32520"/>
              </p:ext>
            </p:extLst>
          </p:nvPr>
        </p:nvGraphicFramePr>
        <p:xfrm>
          <a:off x="7984181" y="3317538"/>
          <a:ext cx="6127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40" imgH="241200" progId="Equation.DSMT4">
                  <p:embed/>
                </p:oleObj>
              </mc:Choice>
              <mc:Fallback>
                <p:oleObj name="Equation" r:id="rId5" imgW="419040" imgH="24120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4181" y="3317538"/>
                        <a:ext cx="6127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716623" y="2348881"/>
          <a:ext cx="2222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80" imgH="190440" progId="Equation.DSMT4">
                  <p:embed/>
                </p:oleObj>
              </mc:Choice>
              <mc:Fallback>
                <p:oleObj name="Equation" r:id="rId7" imgW="152280" imgH="19044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623" y="2348881"/>
                        <a:ext cx="2222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580917" y="877318"/>
          <a:ext cx="23971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41200" progId="Equation.DSMT4">
                  <p:embed/>
                </p:oleObj>
              </mc:Choice>
              <mc:Fallback>
                <p:oleObj name="Equation" r:id="rId9" imgW="164880" imgH="24120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917" y="877318"/>
                        <a:ext cx="23971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2602122" y="1705918"/>
          <a:ext cx="24130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4880" imgH="190440" progId="Equation.DSMT4">
                  <p:embed/>
                </p:oleObj>
              </mc:Choice>
              <mc:Fallback>
                <p:oleObj name="Equation" r:id="rId11" imgW="164880" imgH="19044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122" y="1705918"/>
                        <a:ext cx="241300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637950"/>
              </p:ext>
            </p:extLst>
          </p:nvPr>
        </p:nvGraphicFramePr>
        <p:xfrm>
          <a:off x="7715870" y="4704357"/>
          <a:ext cx="21717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85720" imgH="355320" progId="Equation.DSMT4">
                  <p:embed/>
                </p:oleObj>
              </mc:Choice>
              <mc:Fallback>
                <p:oleObj name="Equation" r:id="rId13" imgW="1485720" imgH="35532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870" y="4704357"/>
                        <a:ext cx="21717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kstvak 17"/>
          <p:cNvSpPr txBox="1"/>
          <p:nvPr/>
        </p:nvSpPr>
        <p:spPr>
          <a:xfrm>
            <a:off x="1847528" y="5733257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</a:t>
            </a:r>
            <a:endParaRPr lang="en-US" sz="2800" dirty="0"/>
          </a:p>
        </p:txBody>
      </p:sp>
      <p:sp>
        <p:nvSpPr>
          <p:cNvPr id="3" name="Rechthoek 2"/>
          <p:cNvSpPr/>
          <p:nvPr/>
        </p:nvSpPr>
        <p:spPr>
          <a:xfrm>
            <a:off x="3071664" y="620688"/>
            <a:ext cx="1512168" cy="864096"/>
          </a:xfrm>
          <a:prstGeom prst="rect">
            <a:avLst/>
          </a:prstGeom>
          <a:solidFill>
            <a:srgbClr val="6FE37A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hoek 5"/>
          <p:cNvSpPr/>
          <p:nvPr/>
        </p:nvSpPr>
        <p:spPr>
          <a:xfrm>
            <a:off x="4583832" y="620688"/>
            <a:ext cx="936104" cy="864096"/>
          </a:xfrm>
          <a:prstGeom prst="rect">
            <a:avLst/>
          </a:prstGeom>
          <a:solidFill>
            <a:srgbClr val="C499D7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922838" y="2311600"/>
          <a:ext cx="2587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241200" progId="Equation.DSMT4">
                  <p:embed/>
                </p:oleObj>
              </mc:Choice>
              <mc:Fallback>
                <p:oleObj name="Equation" r:id="rId15" imgW="177480" imgH="2412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311600"/>
                        <a:ext cx="25876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kstvak 21"/>
          <p:cNvSpPr txBox="1"/>
          <p:nvPr/>
        </p:nvSpPr>
        <p:spPr>
          <a:xfrm>
            <a:off x="2515327" y="417595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purple rectangle:</a:t>
            </a:r>
            <a:endParaRPr lang="en-US" sz="2800" dirty="0"/>
          </a:p>
        </p:txBody>
      </p:sp>
      <p:sp>
        <p:nvSpPr>
          <p:cNvPr id="23" name="Tekstvak 22"/>
          <p:cNvSpPr txBox="1"/>
          <p:nvPr/>
        </p:nvSpPr>
        <p:spPr>
          <a:xfrm>
            <a:off x="2515327" y="367644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green rectangle:</a:t>
            </a:r>
            <a:endParaRPr lang="en-US" sz="2800" dirty="0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105527"/>
              </p:ext>
            </p:extLst>
          </p:nvPr>
        </p:nvGraphicFramePr>
        <p:xfrm>
          <a:off x="7984181" y="4266925"/>
          <a:ext cx="6127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19040" imgH="241200" progId="Equation.DSMT4">
                  <p:embed/>
                </p:oleObj>
              </mc:Choice>
              <mc:Fallback>
                <p:oleObj name="Equation" r:id="rId17" imgW="419040" imgH="24120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4181" y="4266925"/>
                        <a:ext cx="6127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016124"/>
              </p:ext>
            </p:extLst>
          </p:nvPr>
        </p:nvGraphicFramePr>
        <p:xfrm>
          <a:off x="8003903" y="3770368"/>
          <a:ext cx="5746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3480" imgH="241200" progId="Equation.DSMT4">
                  <p:embed/>
                </p:oleObj>
              </mc:Choice>
              <mc:Fallback>
                <p:oleObj name="Equation" r:id="rId19" imgW="393480" imgH="241200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3903" y="3770368"/>
                        <a:ext cx="5746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2610890" y="5749294"/>
          <a:ext cx="20431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6800" imgH="355320" progId="Equation.DSMT4">
                  <p:embed/>
                </p:oleObj>
              </mc:Choice>
              <mc:Fallback>
                <p:oleObj name="Equation" r:id="rId21" imgW="1396800" imgH="355320" progId="Equation.DSMT4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0890" y="5749294"/>
                        <a:ext cx="20431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Vrije vorm 30"/>
          <p:cNvSpPr/>
          <p:nvPr/>
        </p:nvSpPr>
        <p:spPr>
          <a:xfrm>
            <a:off x="2882284" y="5672811"/>
            <a:ext cx="1003177" cy="168696"/>
          </a:xfrm>
          <a:custGeom>
            <a:avLst/>
            <a:gdLst>
              <a:gd name="connsiteX0" fmla="*/ 0 w 1003177"/>
              <a:gd name="connsiteY0" fmla="*/ 159818 h 168696"/>
              <a:gd name="connsiteX1" fmla="*/ 372863 w 1003177"/>
              <a:gd name="connsiteY1" fmla="*/ 20 h 168696"/>
              <a:gd name="connsiteX2" fmla="*/ 1003177 w 1003177"/>
              <a:gd name="connsiteY2" fmla="*/ 168696 h 1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177" h="168696">
                <a:moveTo>
                  <a:pt x="0" y="159818"/>
                </a:moveTo>
                <a:cubicBezTo>
                  <a:pt x="102833" y="79179"/>
                  <a:pt x="205667" y="-1460"/>
                  <a:pt x="372863" y="20"/>
                </a:cubicBezTo>
                <a:cubicBezTo>
                  <a:pt x="540059" y="1500"/>
                  <a:pt x="771618" y="85098"/>
                  <a:pt x="1003177" y="168696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Vrije vorm 31"/>
          <p:cNvSpPr/>
          <p:nvPr/>
        </p:nvSpPr>
        <p:spPr>
          <a:xfrm>
            <a:off x="2891161" y="5539568"/>
            <a:ext cx="1509204" cy="310817"/>
          </a:xfrm>
          <a:custGeom>
            <a:avLst/>
            <a:gdLst>
              <a:gd name="connsiteX0" fmla="*/ 0 w 1509204"/>
              <a:gd name="connsiteY0" fmla="*/ 284184 h 310817"/>
              <a:gd name="connsiteX1" fmla="*/ 648070 w 1509204"/>
              <a:gd name="connsiteY1" fmla="*/ 99 h 310817"/>
              <a:gd name="connsiteX2" fmla="*/ 1509204 w 1509204"/>
              <a:gd name="connsiteY2" fmla="*/ 310817 h 31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9204" h="310817">
                <a:moveTo>
                  <a:pt x="0" y="284184"/>
                </a:moveTo>
                <a:cubicBezTo>
                  <a:pt x="198268" y="139922"/>
                  <a:pt x="396536" y="-4340"/>
                  <a:pt x="648070" y="99"/>
                </a:cubicBezTo>
                <a:cubicBezTo>
                  <a:pt x="899604" y="4538"/>
                  <a:pt x="1204404" y="157677"/>
                  <a:pt x="1509204" y="3108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Vrije vorm 32"/>
          <p:cNvSpPr/>
          <p:nvPr/>
        </p:nvSpPr>
        <p:spPr>
          <a:xfrm>
            <a:off x="3379434" y="6152226"/>
            <a:ext cx="506027" cy="133271"/>
          </a:xfrm>
          <a:custGeom>
            <a:avLst/>
            <a:gdLst>
              <a:gd name="connsiteX0" fmla="*/ 0 w 506027"/>
              <a:gd name="connsiteY0" fmla="*/ 0 h 133271"/>
              <a:gd name="connsiteX1" fmla="*/ 186431 w 506027"/>
              <a:gd name="connsiteY1" fmla="*/ 133165 h 133271"/>
              <a:gd name="connsiteX2" fmla="*/ 506027 w 506027"/>
              <a:gd name="connsiteY2" fmla="*/ 17756 h 13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6027" h="133271">
                <a:moveTo>
                  <a:pt x="0" y="0"/>
                </a:moveTo>
                <a:cubicBezTo>
                  <a:pt x="51046" y="65103"/>
                  <a:pt x="102093" y="130206"/>
                  <a:pt x="186431" y="133165"/>
                </a:cubicBezTo>
                <a:cubicBezTo>
                  <a:pt x="270769" y="136124"/>
                  <a:pt x="388398" y="76940"/>
                  <a:pt x="506027" y="1775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Vrije vorm 33"/>
          <p:cNvSpPr/>
          <p:nvPr/>
        </p:nvSpPr>
        <p:spPr>
          <a:xfrm>
            <a:off x="3370555" y="6169981"/>
            <a:ext cx="1020932" cy="248574"/>
          </a:xfrm>
          <a:custGeom>
            <a:avLst/>
            <a:gdLst>
              <a:gd name="connsiteX0" fmla="*/ 0 w 1020932"/>
              <a:gd name="connsiteY0" fmla="*/ 0 h 248574"/>
              <a:gd name="connsiteX1" fmla="*/ 363985 w 1020932"/>
              <a:gd name="connsiteY1" fmla="*/ 248574 h 248574"/>
              <a:gd name="connsiteX2" fmla="*/ 1020932 w 1020932"/>
              <a:gd name="connsiteY2" fmla="*/ 0 h 248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932" h="248574">
                <a:moveTo>
                  <a:pt x="0" y="0"/>
                </a:moveTo>
                <a:cubicBezTo>
                  <a:pt x="96915" y="124287"/>
                  <a:pt x="193830" y="248574"/>
                  <a:pt x="363985" y="248574"/>
                </a:cubicBezTo>
                <a:cubicBezTo>
                  <a:pt x="534140" y="248574"/>
                  <a:pt x="777536" y="124287"/>
                  <a:pt x="1020932" y="0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hthoek 34"/>
          <p:cNvSpPr/>
          <p:nvPr/>
        </p:nvSpPr>
        <p:spPr>
          <a:xfrm>
            <a:off x="4943872" y="5757159"/>
            <a:ext cx="432048" cy="39506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hthoek 36"/>
          <p:cNvSpPr/>
          <p:nvPr/>
        </p:nvSpPr>
        <p:spPr>
          <a:xfrm>
            <a:off x="5591944" y="5757159"/>
            <a:ext cx="504056" cy="395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hthoek 37"/>
          <p:cNvSpPr/>
          <p:nvPr/>
        </p:nvSpPr>
        <p:spPr>
          <a:xfrm>
            <a:off x="6312024" y="5757159"/>
            <a:ext cx="432048" cy="395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hoek 38"/>
          <p:cNvSpPr/>
          <p:nvPr/>
        </p:nvSpPr>
        <p:spPr>
          <a:xfrm>
            <a:off x="7032104" y="5757159"/>
            <a:ext cx="432048" cy="40814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4694238" y="5801389"/>
          <a:ext cx="2803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17360" imgH="241200" progId="Equation.DSMT4">
                  <p:embed/>
                </p:oleObj>
              </mc:Choice>
              <mc:Fallback>
                <p:oleObj name="Equation" r:id="rId23" imgW="1917360" imgH="241200" progId="Equation.DSMT4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8" y="5801389"/>
                        <a:ext cx="28035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A036B-CEE1-279C-0D82-EAE30AE20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984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Examples 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495601" y="1628801"/>
          <a:ext cx="20034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355320" progId="Equation.DSMT4">
                  <p:embed/>
                </p:oleObj>
              </mc:Choice>
              <mc:Fallback>
                <p:oleObj name="Equation" r:id="rId2" imgW="1371600" imgH="35532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1" y="1628801"/>
                        <a:ext cx="20034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495601" y="2492897"/>
          <a:ext cx="20415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355320" progId="Equation.DSMT4">
                  <p:embed/>
                </p:oleObj>
              </mc:Choice>
              <mc:Fallback>
                <p:oleObj name="Equation" r:id="rId4" imgW="1396800" imgH="35532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1" y="2492897"/>
                        <a:ext cx="20415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23592" y="3356993"/>
          <a:ext cx="22098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355320" progId="Equation.DSMT4">
                  <p:embed/>
                </p:oleObj>
              </mc:Choice>
              <mc:Fallback>
                <p:oleObj name="Equation" r:id="rId6" imgW="1511280" imgH="35532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356993"/>
                        <a:ext cx="22098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583832" y="1700808"/>
          <a:ext cx="2374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400" imgH="266400" progId="Equation.DSMT4">
                  <p:embed/>
                </p:oleObj>
              </mc:Choice>
              <mc:Fallback>
                <p:oleObj name="Equation" r:id="rId8" imgW="1625400" imgH="2664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1700808"/>
                        <a:ext cx="23749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583832" y="2492896"/>
          <a:ext cx="27479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79560" imgH="291960" progId="Equation.DSMT4">
                  <p:embed/>
                </p:oleObj>
              </mc:Choice>
              <mc:Fallback>
                <p:oleObj name="Equation" r:id="rId10" imgW="1879560" imgH="2919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2492896"/>
                        <a:ext cx="27479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464153" y="2492896"/>
          <a:ext cx="18557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291960" progId="Equation.DSMT4">
                  <p:embed/>
                </p:oleObj>
              </mc:Choice>
              <mc:Fallback>
                <p:oleObj name="Equation" r:id="rId12" imgW="1269720" imgH="29196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3" y="2492896"/>
                        <a:ext cx="18557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655840" y="3356992"/>
          <a:ext cx="2895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291960" progId="Equation.DSMT4">
                  <p:embed/>
                </p:oleObj>
              </mc:Choice>
              <mc:Fallback>
                <p:oleObj name="Equation" r:id="rId14" imgW="1981080" imgH="29196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840" y="3356992"/>
                        <a:ext cx="28956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608168" y="3356992"/>
          <a:ext cx="22082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0" imgH="291960" progId="Equation.DSMT4">
                  <p:embed/>
                </p:oleObj>
              </mc:Choice>
              <mc:Fallback>
                <p:oleObj name="Equation" r:id="rId16" imgW="1511280" imgH="29196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3356992"/>
                        <a:ext cx="22082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E74EB-0CA5-2088-FA87-771C188A3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394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/>
          <p:cNvSpPr/>
          <p:nvPr/>
        </p:nvSpPr>
        <p:spPr>
          <a:xfrm>
            <a:off x="3070755" y="1700808"/>
            <a:ext cx="756084" cy="720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hoek 11"/>
          <p:cNvSpPr/>
          <p:nvPr/>
        </p:nvSpPr>
        <p:spPr>
          <a:xfrm>
            <a:off x="3827749" y="1700808"/>
            <a:ext cx="1224135" cy="720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kstvak 12"/>
          <p:cNvSpPr txBox="1"/>
          <p:nvPr/>
        </p:nvSpPr>
        <p:spPr>
          <a:xfrm>
            <a:off x="2515327" y="2719028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Surface blue square:</a:t>
            </a:r>
            <a:endParaRPr lang="en-US" sz="2800" dirty="0"/>
          </a:p>
        </p:txBody>
      </p:sp>
      <p:sp>
        <p:nvSpPr>
          <p:cNvPr id="14" name="Tekstvak 13"/>
          <p:cNvSpPr txBox="1"/>
          <p:nvPr/>
        </p:nvSpPr>
        <p:spPr>
          <a:xfrm>
            <a:off x="2515327" y="3232140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red rectangle:</a:t>
            </a:r>
            <a:endParaRPr lang="en-US" sz="2800" dirty="0"/>
          </a:p>
        </p:txBody>
      </p:sp>
      <p:sp>
        <p:nvSpPr>
          <p:cNvPr id="15" name="Tekstvak 14"/>
          <p:cNvSpPr txBox="1"/>
          <p:nvPr/>
        </p:nvSpPr>
        <p:spPr>
          <a:xfrm>
            <a:off x="2515327" y="4704356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</a:t>
            </a:r>
            <a:r>
              <a:rPr lang="nl-NL" sz="2800"/>
              <a:t>total square:</a:t>
            </a:r>
            <a:endParaRPr lang="en-US" sz="2800" dirty="0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7184520" y="2719029"/>
          <a:ext cx="12430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91960" progId="Equation.DSMT4">
                  <p:embed/>
                </p:oleObj>
              </mc:Choice>
              <mc:Fallback>
                <p:oleObj name="Equation" r:id="rId2" imgW="850680" imgH="29196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4520" y="2719029"/>
                        <a:ext cx="12430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7184521" y="3317876"/>
          <a:ext cx="593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41200" progId="Equation.DSMT4">
                  <p:embed/>
                </p:oleObj>
              </mc:Choice>
              <mc:Fallback>
                <p:oleObj name="Equation" r:id="rId4" imgW="406080" imgH="24120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4521" y="3317876"/>
                        <a:ext cx="5937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591768" y="908721"/>
          <a:ext cx="23971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41200" progId="Equation.DSMT4">
                  <p:embed/>
                </p:oleObj>
              </mc:Choice>
              <mc:Fallback>
                <p:oleObj name="Equation" r:id="rId6" imgW="164880" imgH="2412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768" y="908721"/>
                        <a:ext cx="23971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2590974" y="1921942"/>
          <a:ext cx="24130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190440" progId="Equation.DSMT4">
                  <p:embed/>
                </p:oleObj>
              </mc:Choice>
              <mc:Fallback>
                <p:oleObj name="Equation" r:id="rId8" imgW="164880" imgH="19044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974" y="1921942"/>
                        <a:ext cx="241300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7248129" y="4704356"/>
          <a:ext cx="11509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393480" progId="Equation.DSMT4">
                  <p:embed/>
                </p:oleObj>
              </mc:Choice>
              <mc:Fallback>
                <p:oleObj name="Equation" r:id="rId10" imgW="787320" imgH="393480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9" y="4704356"/>
                        <a:ext cx="11509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kstvak 21"/>
          <p:cNvSpPr txBox="1"/>
          <p:nvPr/>
        </p:nvSpPr>
        <p:spPr>
          <a:xfrm>
            <a:off x="1847528" y="5733257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So:</a:t>
            </a:r>
            <a:endParaRPr lang="en-US" sz="2800" dirty="0"/>
          </a:p>
        </p:txBody>
      </p:sp>
      <p:sp>
        <p:nvSpPr>
          <p:cNvPr id="23" name="Rechthoek 22"/>
          <p:cNvSpPr/>
          <p:nvPr/>
        </p:nvSpPr>
        <p:spPr>
          <a:xfrm>
            <a:off x="3071665" y="548680"/>
            <a:ext cx="755175" cy="11521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hoek 23"/>
          <p:cNvSpPr/>
          <p:nvPr/>
        </p:nvSpPr>
        <p:spPr>
          <a:xfrm>
            <a:off x="3845159" y="548680"/>
            <a:ext cx="1206724" cy="1152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kstvak 25"/>
          <p:cNvSpPr txBox="1"/>
          <p:nvPr/>
        </p:nvSpPr>
        <p:spPr>
          <a:xfrm>
            <a:off x="2515327" y="417595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Surface purple square:</a:t>
            </a:r>
            <a:endParaRPr lang="en-US" sz="2800" dirty="0"/>
          </a:p>
        </p:txBody>
      </p:sp>
      <p:sp>
        <p:nvSpPr>
          <p:cNvPr id="27" name="Tekstvak 26"/>
          <p:cNvSpPr txBox="1"/>
          <p:nvPr/>
        </p:nvSpPr>
        <p:spPr>
          <a:xfrm>
            <a:off x="2515327" y="367644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Area green rectangle:</a:t>
            </a:r>
            <a:endParaRPr lang="en-US" sz="2800" dirty="0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7184520" y="4199663"/>
          <a:ext cx="12446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291960" progId="Equation.DSMT4">
                  <p:embed/>
                </p:oleObj>
              </mc:Choice>
              <mc:Fallback>
                <p:oleObj name="Equation" r:id="rId12" imgW="850680" imgH="29196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4520" y="4199663"/>
                        <a:ext cx="12446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7184521" y="3770314"/>
          <a:ext cx="5921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080" imgH="241200" progId="Equation.DSMT4">
                  <p:embed/>
                </p:oleObj>
              </mc:Choice>
              <mc:Fallback>
                <p:oleObj name="Equation" r:id="rId14" imgW="406080" imgH="241200" progId="Equation.DSMT4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4521" y="3770314"/>
                        <a:ext cx="5921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2611438" y="5749926"/>
          <a:ext cx="20431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0" imgH="355320" progId="Equation.DSMT4">
                  <p:embed/>
                </p:oleObj>
              </mc:Choice>
              <mc:Fallback>
                <p:oleObj name="Equation" r:id="rId16" imgW="1396800" imgH="355320" progId="Equation.DSMT4">
                  <p:embed/>
                  <p:pic>
                    <p:nvPicPr>
                      <p:cNvPr id="3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5749926"/>
                        <a:ext cx="20431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Vrije vorm 31"/>
          <p:cNvSpPr/>
          <p:nvPr/>
        </p:nvSpPr>
        <p:spPr>
          <a:xfrm>
            <a:off x="2882284" y="5672811"/>
            <a:ext cx="1003177" cy="168696"/>
          </a:xfrm>
          <a:custGeom>
            <a:avLst/>
            <a:gdLst>
              <a:gd name="connsiteX0" fmla="*/ 0 w 1003177"/>
              <a:gd name="connsiteY0" fmla="*/ 159818 h 168696"/>
              <a:gd name="connsiteX1" fmla="*/ 372863 w 1003177"/>
              <a:gd name="connsiteY1" fmla="*/ 20 h 168696"/>
              <a:gd name="connsiteX2" fmla="*/ 1003177 w 1003177"/>
              <a:gd name="connsiteY2" fmla="*/ 168696 h 1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177" h="168696">
                <a:moveTo>
                  <a:pt x="0" y="159818"/>
                </a:moveTo>
                <a:cubicBezTo>
                  <a:pt x="102833" y="79179"/>
                  <a:pt x="205667" y="-1460"/>
                  <a:pt x="372863" y="20"/>
                </a:cubicBezTo>
                <a:cubicBezTo>
                  <a:pt x="540059" y="1500"/>
                  <a:pt x="771618" y="85098"/>
                  <a:pt x="1003177" y="1686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Vrije vorm 32"/>
          <p:cNvSpPr/>
          <p:nvPr/>
        </p:nvSpPr>
        <p:spPr>
          <a:xfrm>
            <a:off x="2891161" y="5539568"/>
            <a:ext cx="1509204" cy="310817"/>
          </a:xfrm>
          <a:custGeom>
            <a:avLst/>
            <a:gdLst>
              <a:gd name="connsiteX0" fmla="*/ 0 w 1509204"/>
              <a:gd name="connsiteY0" fmla="*/ 284184 h 310817"/>
              <a:gd name="connsiteX1" fmla="*/ 648070 w 1509204"/>
              <a:gd name="connsiteY1" fmla="*/ 99 h 310817"/>
              <a:gd name="connsiteX2" fmla="*/ 1509204 w 1509204"/>
              <a:gd name="connsiteY2" fmla="*/ 310817 h 31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9204" h="310817">
                <a:moveTo>
                  <a:pt x="0" y="284184"/>
                </a:moveTo>
                <a:cubicBezTo>
                  <a:pt x="198268" y="139922"/>
                  <a:pt x="396536" y="-4340"/>
                  <a:pt x="648070" y="99"/>
                </a:cubicBezTo>
                <a:cubicBezTo>
                  <a:pt x="899604" y="4538"/>
                  <a:pt x="1204404" y="157677"/>
                  <a:pt x="1509204" y="3108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Vrije vorm 33"/>
          <p:cNvSpPr/>
          <p:nvPr/>
        </p:nvSpPr>
        <p:spPr>
          <a:xfrm>
            <a:off x="3379434" y="6152226"/>
            <a:ext cx="506027" cy="133271"/>
          </a:xfrm>
          <a:custGeom>
            <a:avLst/>
            <a:gdLst>
              <a:gd name="connsiteX0" fmla="*/ 0 w 506027"/>
              <a:gd name="connsiteY0" fmla="*/ 0 h 133271"/>
              <a:gd name="connsiteX1" fmla="*/ 186431 w 506027"/>
              <a:gd name="connsiteY1" fmla="*/ 133165 h 133271"/>
              <a:gd name="connsiteX2" fmla="*/ 506027 w 506027"/>
              <a:gd name="connsiteY2" fmla="*/ 17756 h 13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6027" h="133271">
                <a:moveTo>
                  <a:pt x="0" y="0"/>
                </a:moveTo>
                <a:cubicBezTo>
                  <a:pt x="51046" y="65103"/>
                  <a:pt x="102093" y="130206"/>
                  <a:pt x="186431" y="133165"/>
                </a:cubicBezTo>
                <a:cubicBezTo>
                  <a:pt x="270769" y="136124"/>
                  <a:pt x="388398" y="76940"/>
                  <a:pt x="506027" y="1775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Vrije vorm 34"/>
          <p:cNvSpPr/>
          <p:nvPr/>
        </p:nvSpPr>
        <p:spPr>
          <a:xfrm>
            <a:off x="3370555" y="6169981"/>
            <a:ext cx="1020932" cy="248574"/>
          </a:xfrm>
          <a:custGeom>
            <a:avLst/>
            <a:gdLst>
              <a:gd name="connsiteX0" fmla="*/ 0 w 1020932"/>
              <a:gd name="connsiteY0" fmla="*/ 0 h 248574"/>
              <a:gd name="connsiteX1" fmla="*/ 363985 w 1020932"/>
              <a:gd name="connsiteY1" fmla="*/ 248574 h 248574"/>
              <a:gd name="connsiteX2" fmla="*/ 1020932 w 1020932"/>
              <a:gd name="connsiteY2" fmla="*/ 0 h 248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932" h="248574">
                <a:moveTo>
                  <a:pt x="0" y="0"/>
                </a:moveTo>
                <a:cubicBezTo>
                  <a:pt x="96915" y="124287"/>
                  <a:pt x="193830" y="248574"/>
                  <a:pt x="363985" y="248574"/>
                </a:cubicBezTo>
                <a:cubicBezTo>
                  <a:pt x="534140" y="248574"/>
                  <a:pt x="777536" y="124287"/>
                  <a:pt x="1020932" y="0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hthoek 35"/>
          <p:cNvSpPr/>
          <p:nvPr/>
        </p:nvSpPr>
        <p:spPr>
          <a:xfrm>
            <a:off x="4943872" y="5757159"/>
            <a:ext cx="432048" cy="395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hthoek 36"/>
          <p:cNvSpPr/>
          <p:nvPr/>
        </p:nvSpPr>
        <p:spPr>
          <a:xfrm>
            <a:off x="5663952" y="5757159"/>
            <a:ext cx="432048" cy="395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hthoek 37"/>
          <p:cNvSpPr/>
          <p:nvPr/>
        </p:nvSpPr>
        <p:spPr>
          <a:xfrm>
            <a:off x="6384032" y="5757159"/>
            <a:ext cx="432048" cy="395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hoek 38"/>
          <p:cNvSpPr/>
          <p:nvPr/>
        </p:nvSpPr>
        <p:spPr>
          <a:xfrm>
            <a:off x="7060557" y="5757159"/>
            <a:ext cx="432048" cy="40814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4694238" y="5801389"/>
          <a:ext cx="2803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17360" imgH="241200" progId="Equation.DSMT4">
                  <p:embed/>
                </p:oleObj>
              </mc:Choice>
              <mc:Fallback>
                <p:oleObj name="Equation" r:id="rId18" imgW="1917360" imgH="241200" progId="Equation.DSMT4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8" y="5801389"/>
                        <a:ext cx="28035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3263221" y="2475837"/>
          <a:ext cx="2413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190440" progId="Equation.DSMT4">
                  <p:embed/>
                </p:oleObj>
              </mc:Choice>
              <mc:Fallback>
                <p:oleObj name="Equation" r:id="rId20" imgW="164880" imgH="190440" progId="Equation.DSMT4">
                  <p:embed/>
                  <p:pic>
                    <p:nvPicPr>
                      <p:cNvPr id="4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221" y="2475837"/>
                        <a:ext cx="2413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4354362" y="2420888"/>
          <a:ext cx="23971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241200" progId="Equation.DSMT4">
                  <p:embed/>
                </p:oleObj>
              </mc:Choice>
              <mc:Fallback>
                <p:oleObj name="Equation" r:id="rId22" imgW="164880" imgH="241200" progId="Equation.DSMT4">
                  <p:embed/>
                  <p:pic>
                    <p:nvPicPr>
                      <p:cNvPr id="43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362" y="2420888"/>
                        <a:ext cx="23971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944DC-644C-BBB3-3997-3F1F670CA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896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2501033" y="713242"/>
          <a:ext cx="20431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355320" progId="Equation.DSMT4">
                  <p:embed/>
                </p:oleObj>
              </mc:Choice>
              <mc:Fallback>
                <p:oleObj name="Equation" r:id="rId3" imgW="1396800" imgH="35532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033" y="713242"/>
                        <a:ext cx="20431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Vrije vorm 22"/>
          <p:cNvSpPr/>
          <p:nvPr/>
        </p:nvSpPr>
        <p:spPr>
          <a:xfrm>
            <a:off x="2771879" y="636127"/>
            <a:ext cx="1003177" cy="168696"/>
          </a:xfrm>
          <a:custGeom>
            <a:avLst/>
            <a:gdLst>
              <a:gd name="connsiteX0" fmla="*/ 0 w 1003177"/>
              <a:gd name="connsiteY0" fmla="*/ 159818 h 168696"/>
              <a:gd name="connsiteX1" fmla="*/ 372863 w 1003177"/>
              <a:gd name="connsiteY1" fmla="*/ 20 h 168696"/>
              <a:gd name="connsiteX2" fmla="*/ 1003177 w 1003177"/>
              <a:gd name="connsiteY2" fmla="*/ 168696 h 1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177" h="168696">
                <a:moveTo>
                  <a:pt x="0" y="159818"/>
                </a:moveTo>
                <a:cubicBezTo>
                  <a:pt x="102833" y="79179"/>
                  <a:pt x="205667" y="-1460"/>
                  <a:pt x="372863" y="20"/>
                </a:cubicBezTo>
                <a:cubicBezTo>
                  <a:pt x="540059" y="1500"/>
                  <a:pt x="771618" y="85098"/>
                  <a:pt x="1003177" y="1686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Vrije vorm 23"/>
          <p:cNvSpPr/>
          <p:nvPr/>
        </p:nvSpPr>
        <p:spPr>
          <a:xfrm>
            <a:off x="2780756" y="502884"/>
            <a:ext cx="1509204" cy="310817"/>
          </a:xfrm>
          <a:custGeom>
            <a:avLst/>
            <a:gdLst>
              <a:gd name="connsiteX0" fmla="*/ 0 w 1509204"/>
              <a:gd name="connsiteY0" fmla="*/ 284184 h 310817"/>
              <a:gd name="connsiteX1" fmla="*/ 648070 w 1509204"/>
              <a:gd name="connsiteY1" fmla="*/ 99 h 310817"/>
              <a:gd name="connsiteX2" fmla="*/ 1509204 w 1509204"/>
              <a:gd name="connsiteY2" fmla="*/ 310817 h 31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9204" h="310817">
                <a:moveTo>
                  <a:pt x="0" y="284184"/>
                </a:moveTo>
                <a:cubicBezTo>
                  <a:pt x="198268" y="139922"/>
                  <a:pt x="396536" y="-4340"/>
                  <a:pt x="648070" y="99"/>
                </a:cubicBezTo>
                <a:cubicBezTo>
                  <a:pt x="899604" y="4538"/>
                  <a:pt x="1204404" y="157677"/>
                  <a:pt x="1509204" y="3108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Vrije vorm 24"/>
          <p:cNvSpPr/>
          <p:nvPr/>
        </p:nvSpPr>
        <p:spPr>
          <a:xfrm>
            <a:off x="3269029" y="1115542"/>
            <a:ext cx="506027" cy="133271"/>
          </a:xfrm>
          <a:custGeom>
            <a:avLst/>
            <a:gdLst>
              <a:gd name="connsiteX0" fmla="*/ 0 w 506027"/>
              <a:gd name="connsiteY0" fmla="*/ 0 h 133271"/>
              <a:gd name="connsiteX1" fmla="*/ 186431 w 506027"/>
              <a:gd name="connsiteY1" fmla="*/ 133165 h 133271"/>
              <a:gd name="connsiteX2" fmla="*/ 506027 w 506027"/>
              <a:gd name="connsiteY2" fmla="*/ 17756 h 13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6027" h="133271">
                <a:moveTo>
                  <a:pt x="0" y="0"/>
                </a:moveTo>
                <a:cubicBezTo>
                  <a:pt x="51046" y="65103"/>
                  <a:pt x="102093" y="130206"/>
                  <a:pt x="186431" y="133165"/>
                </a:cubicBezTo>
                <a:cubicBezTo>
                  <a:pt x="270769" y="136124"/>
                  <a:pt x="388398" y="76940"/>
                  <a:pt x="506027" y="1775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hthoek 25"/>
          <p:cNvSpPr/>
          <p:nvPr/>
        </p:nvSpPr>
        <p:spPr>
          <a:xfrm>
            <a:off x="4833467" y="720475"/>
            <a:ext cx="432048" cy="395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hthoek 26"/>
          <p:cNvSpPr/>
          <p:nvPr/>
        </p:nvSpPr>
        <p:spPr>
          <a:xfrm>
            <a:off x="5553547" y="720475"/>
            <a:ext cx="432048" cy="395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hthoek 27"/>
          <p:cNvSpPr/>
          <p:nvPr/>
        </p:nvSpPr>
        <p:spPr>
          <a:xfrm>
            <a:off x="6273627" y="720475"/>
            <a:ext cx="432048" cy="395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hthoek 28"/>
          <p:cNvSpPr/>
          <p:nvPr/>
        </p:nvSpPr>
        <p:spPr>
          <a:xfrm>
            <a:off x="6950152" y="720475"/>
            <a:ext cx="432048" cy="40814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4583833" y="764705"/>
          <a:ext cx="2803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7360" imgH="241200" progId="Equation.DSMT4">
                  <p:embed/>
                </p:oleObj>
              </mc:Choice>
              <mc:Fallback>
                <p:oleObj name="Equation" r:id="rId5" imgW="1917360" imgH="241200" progId="Equation.DSMT4">
                  <p:embed/>
                  <p:pic>
                    <p:nvPicPr>
                      <p:cNvPr id="3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3" y="764705"/>
                        <a:ext cx="28035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Vrije vorm 30"/>
          <p:cNvSpPr/>
          <p:nvPr/>
        </p:nvSpPr>
        <p:spPr>
          <a:xfrm>
            <a:off x="3290151" y="1128619"/>
            <a:ext cx="1020932" cy="248574"/>
          </a:xfrm>
          <a:custGeom>
            <a:avLst/>
            <a:gdLst>
              <a:gd name="connsiteX0" fmla="*/ 0 w 1020932"/>
              <a:gd name="connsiteY0" fmla="*/ 0 h 248574"/>
              <a:gd name="connsiteX1" fmla="*/ 363985 w 1020932"/>
              <a:gd name="connsiteY1" fmla="*/ 248574 h 248574"/>
              <a:gd name="connsiteX2" fmla="*/ 1020932 w 1020932"/>
              <a:gd name="connsiteY2" fmla="*/ 0 h 248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932" h="248574">
                <a:moveTo>
                  <a:pt x="0" y="0"/>
                </a:moveTo>
                <a:cubicBezTo>
                  <a:pt x="96915" y="124287"/>
                  <a:pt x="193830" y="248574"/>
                  <a:pt x="363985" y="248574"/>
                </a:cubicBezTo>
                <a:cubicBezTo>
                  <a:pt x="534140" y="248574"/>
                  <a:pt x="777536" y="124287"/>
                  <a:pt x="1020932" y="0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08798" y="1700808"/>
          <a:ext cx="33623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98600" imgH="393480" progId="Equation.DSMT4">
                  <p:embed/>
                </p:oleObj>
              </mc:Choice>
              <mc:Fallback>
                <p:oleObj name="Equation" r:id="rId7" imgW="2298600" imgH="39348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798" y="1700808"/>
                        <a:ext cx="33623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2522738" y="2945490"/>
          <a:ext cx="20431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355320" progId="Equation.DSMT4">
                  <p:embed/>
                </p:oleObj>
              </mc:Choice>
              <mc:Fallback>
                <p:oleObj name="Equation" r:id="rId9" imgW="1396800" imgH="355320" progId="Equation.DSMT4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738" y="2945490"/>
                        <a:ext cx="20431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Vrije vorm 32"/>
          <p:cNvSpPr/>
          <p:nvPr/>
        </p:nvSpPr>
        <p:spPr>
          <a:xfrm>
            <a:off x="2793584" y="2868375"/>
            <a:ext cx="1003177" cy="168696"/>
          </a:xfrm>
          <a:custGeom>
            <a:avLst/>
            <a:gdLst>
              <a:gd name="connsiteX0" fmla="*/ 0 w 1003177"/>
              <a:gd name="connsiteY0" fmla="*/ 159818 h 168696"/>
              <a:gd name="connsiteX1" fmla="*/ 372863 w 1003177"/>
              <a:gd name="connsiteY1" fmla="*/ 20 h 168696"/>
              <a:gd name="connsiteX2" fmla="*/ 1003177 w 1003177"/>
              <a:gd name="connsiteY2" fmla="*/ 168696 h 1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177" h="168696">
                <a:moveTo>
                  <a:pt x="0" y="159818"/>
                </a:moveTo>
                <a:cubicBezTo>
                  <a:pt x="102833" y="79179"/>
                  <a:pt x="205667" y="-1460"/>
                  <a:pt x="372863" y="20"/>
                </a:cubicBezTo>
                <a:cubicBezTo>
                  <a:pt x="540059" y="1500"/>
                  <a:pt x="771618" y="85098"/>
                  <a:pt x="1003177" y="1686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Vrije vorm 33"/>
          <p:cNvSpPr/>
          <p:nvPr/>
        </p:nvSpPr>
        <p:spPr>
          <a:xfrm>
            <a:off x="2802461" y="2735132"/>
            <a:ext cx="1509204" cy="310817"/>
          </a:xfrm>
          <a:custGeom>
            <a:avLst/>
            <a:gdLst>
              <a:gd name="connsiteX0" fmla="*/ 0 w 1509204"/>
              <a:gd name="connsiteY0" fmla="*/ 284184 h 310817"/>
              <a:gd name="connsiteX1" fmla="*/ 648070 w 1509204"/>
              <a:gd name="connsiteY1" fmla="*/ 99 h 310817"/>
              <a:gd name="connsiteX2" fmla="*/ 1509204 w 1509204"/>
              <a:gd name="connsiteY2" fmla="*/ 310817 h 31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9204" h="310817">
                <a:moveTo>
                  <a:pt x="0" y="284184"/>
                </a:moveTo>
                <a:cubicBezTo>
                  <a:pt x="198268" y="139922"/>
                  <a:pt x="396536" y="-4340"/>
                  <a:pt x="648070" y="99"/>
                </a:cubicBezTo>
                <a:cubicBezTo>
                  <a:pt x="899604" y="4538"/>
                  <a:pt x="1204404" y="157677"/>
                  <a:pt x="1509204" y="3108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Vrije vorm 34"/>
          <p:cNvSpPr/>
          <p:nvPr/>
        </p:nvSpPr>
        <p:spPr>
          <a:xfrm>
            <a:off x="3290734" y="3347790"/>
            <a:ext cx="506027" cy="133271"/>
          </a:xfrm>
          <a:custGeom>
            <a:avLst/>
            <a:gdLst>
              <a:gd name="connsiteX0" fmla="*/ 0 w 506027"/>
              <a:gd name="connsiteY0" fmla="*/ 0 h 133271"/>
              <a:gd name="connsiteX1" fmla="*/ 186431 w 506027"/>
              <a:gd name="connsiteY1" fmla="*/ 133165 h 133271"/>
              <a:gd name="connsiteX2" fmla="*/ 506027 w 506027"/>
              <a:gd name="connsiteY2" fmla="*/ 17756 h 13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6027" h="133271">
                <a:moveTo>
                  <a:pt x="0" y="0"/>
                </a:moveTo>
                <a:cubicBezTo>
                  <a:pt x="51046" y="65103"/>
                  <a:pt x="102093" y="130206"/>
                  <a:pt x="186431" y="133165"/>
                </a:cubicBezTo>
                <a:cubicBezTo>
                  <a:pt x="270769" y="136124"/>
                  <a:pt x="388398" y="76940"/>
                  <a:pt x="506027" y="1775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hthoek 35"/>
          <p:cNvSpPr/>
          <p:nvPr/>
        </p:nvSpPr>
        <p:spPr>
          <a:xfrm>
            <a:off x="4855172" y="2952723"/>
            <a:ext cx="432048" cy="395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hthoek 36"/>
          <p:cNvSpPr/>
          <p:nvPr/>
        </p:nvSpPr>
        <p:spPr>
          <a:xfrm>
            <a:off x="5575252" y="2952723"/>
            <a:ext cx="432048" cy="395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hthoek 37"/>
          <p:cNvSpPr/>
          <p:nvPr/>
        </p:nvSpPr>
        <p:spPr>
          <a:xfrm>
            <a:off x="6295332" y="2952723"/>
            <a:ext cx="432048" cy="395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hthoek 38"/>
          <p:cNvSpPr/>
          <p:nvPr/>
        </p:nvSpPr>
        <p:spPr>
          <a:xfrm>
            <a:off x="6971857" y="2952723"/>
            <a:ext cx="432048" cy="40814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4605538" y="2996953"/>
          <a:ext cx="2803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17360" imgH="241200" progId="Equation.DSMT4">
                  <p:embed/>
                </p:oleObj>
              </mc:Choice>
              <mc:Fallback>
                <p:oleObj name="Equation" r:id="rId11" imgW="1917360" imgH="241200" progId="Equation.DSMT4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538" y="2996953"/>
                        <a:ext cx="28035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Vrije vorm 40"/>
          <p:cNvSpPr/>
          <p:nvPr/>
        </p:nvSpPr>
        <p:spPr>
          <a:xfrm>
            <a:off x="3311856" y="3360867"/>
            <a:ext cx="1020932" cy="248574"/>
          </a:xfrm>
          <a:custGeom>
            <a:avLst/>
            <a:gdLst>
              <a:gd name="connsiteX0" fmla="*/ 0 w 1020932"/>
              <a:gd name="connsiteY0" fmla="*/ 0 h 248574"/>
              <a:gd name="connsiteX1" fmla="*/ 363985 w 1020932"/>
              <a:gd name="connsiteY1" fmla="*/ 248574 h 248574"/>
              <a:gd name="connsiteX2" fmla="*/ 1020932 w 1020932"/>
              <a:gd name="connsiteY2" fmla="*/ 0 h 248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932" h="248574">
                <a:moveTo>
                  <a:pt x="0" y="0"/>
                </a:moveTo>
                <a:cubicBezTo>
                  <a:pt x="96915" y="124287"/>
                  <a:pt x="193830" y="248574"/>
                  <a:pt x="363985" y="248574"/>
                </a:cubicBezTo>
                <a:cubicBezTo>
                  <a:pt x="534140" y="248574"/>
                  <a:pt x="777536" y="124287"/>
                  <a:pt x="1020932" y="0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60651" y="3789364"/>
          <a:ext cx="33432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0" imgH="393480" progId="Equation.DSMT4">
                  <p:embed/>
                </p:oleObj>
              </mc:Choice>
              <mc:Fallback>
                <p:oleObj name="Equation" r:id="rId13" imgW="2286000" imgH="39348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1" y="3789364"/>
                        <a:ext cx="33432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2522738" y="4745690"/>
          <a:ext cx="20431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0" imgH="355320" progId="Equation.DSMT4">
                  <p:embed/>
                </p:oleObj>
              </mc:Choice>
              <mc:Fallback>
                <p:oleObj name="Equation" r:id="rId15" imgW="1396800" imgH="355320" progId="Equation.DSMT4">
                  <p:embed/>
                  <p:pic>
                    <p:nvPicPr>
                      <p:cNvPr id="4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738" y="4745690"/>
                        <a:ext cx="20431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Vrije vorm 42"/>
          <p:cNvSpPr/>
          <p:nvPr/>
        </p:nvSpPr>
        <p:spPr>
          <a:xfrm>
            <a:off x="2793584" y="4668575"/>
            <a:ext cx="1003177" cy="168696"/>
          </a:xfrm>
          <a:custGeom>
            <a:avLst/>
            <a:gdLst>
              <a:gd name="connsiteX0" fmla="*/ 0 w 1003177"/>
              <a:gd name="connsiteY0" fmla="*/ 159818 h 168696"/>
              <a:gd name="connsiteX1" fmla="*/ 372863 w 1003177"/>
              <a:gd name="connsiteY1" fmla="*/ 20 h 168696"/>
              <a:gd name="connsiteX2" fmla="*/ 1003177 w 1003177"/>
              <a:gd name="connsiteY2" fmla="*/ 168696 h 1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177" h="168696">
                <a:moveTo>
                  <a:pt x="0" y="159818"/>
                </a:moveTo>
                <a:cubicBezTo>
                  <a:pt x="102833" y="79179"/>
                  <a:pt x="205667" y="-1460"/>
                  <a:pt x="372863" y="20"/>
                </a:cubicBezTo>
                <a:cubicBezTo>
                  <a:pt x="540059" y="1500"/>
                  <a:pt x="771618" y="85098"/>
                  <a:pt x="1003177" y="1686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Vrije vorm 43"/>
          <p:cNvSpPr/>
          <p:nvPr/>
        </p:nvSpPr>
        <p:spPr>
          <a:xfrm>
            <a:off x="2802461" y="4535332"/>
            <a:ext cx="1509204" cy="310817"/>
          </a:xfrm>
          <a:custGeom>
            <a:avLst/>
            <a:gdLst>
              <a:gd name="connsiteX0" fmla="*/ 0 w 1509204"/>
              <a:gd name="connsiteY0" fmla="*/ 284184 h 310817"/>
              <a:gd name="connsiteX1" fmla="*/ 648070 w 1509204"/>
              <a:gd name="connsiteY1" fmla="*/ 99 h 310817"/>
              <a:gd name="connsiteX2" fmla="*/ 1509204 w 1509204"/>
              <a:gd name="connsiteY2" fmla="*/ 310817 h 31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9204" h="310817">
                <a:moveTo>
                  <a:pt x="0" y="284184"/>
                </a:moveTo>
                <a:cubicBezTo>
                  <a:pt x="198268" y="139922"/>
                  <a:pt x="396536" y="-4340"/>
                  <a:pt x="648070" y="99"/>
                </a:cubicBezTo>
                <a:cubicBezTo>
                  <a:pt x="899604" y="4538"/>
                  <a:pt x="1204404" y="157677"/>
                  <a:pt x="1509204" y="3108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Vrije vorm 44"/>
          <p:cNvSpPr/>
          <p:nvPr/>
        </p:nvSpPr>
        <p:spPr>
          <a:xfrm>
            <a:off x="3290734" y="5147990"/>
            <a:ext cx="506027" cy="133271"/>
          </a:xfrm>
          <a:custGeom>
            <a:avLst/>
            <a:gdLst>
              <a:gd name="connsiteX0" fmla="*/ 0 w 506027"/>
              <a:gd name="connsiteY0" fmla="*/ 0 h 133271"/>
              <a:gd name="connsiteX1" fmla="*/ 186431 w 506027"/>
              <a:gd name="connsiteY1" fmla="*/ 133165 h 133271"/>
              <a:gd name="connsiteX2" fmla="*/ 506027 w 506027"/>
              <a:gd name="connsiteY2" fmla="*/ 17756 h 13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6027" h="133271">
                <a:moveTo>
                  <a:pt x="0" y="0"/>
                </a:moveTo>
                <a:cubicBezTo>
                  <a:pt x="51046" y="65103"/>
                  <a:pt x="102093" y="130206"/>
                  <a:pt x="186431" y="133165"/>
                </a:cubicBezTo>
                <a:cubicBezTo>
                  <a:pt x="270769" y="136124"/>
                  <a:pt x="388398" y="76940"/>
                  <a:pt x="506027" y="1775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hthoek 45"/>
          <p:cNvSpPr/>
          <p:nvPr/>
        </p:nvSpPr>
        <p:spPr>
          <a:xfrm>
            <a:off x="4855172" y="4752923"/>
            <a:ext cx="432048" cy="395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hthoek 46"/>
          <p:cNvSpPr/>
          <p:nvPr/>
        </p:nvSpPr>
        <p:spPr>
          <a:xfrm>
            <a:off x="5575252" y="4752923"/>
            <a:ext cx="432048" cy="395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hthoek 47"/>
          <p:cNvSpPr/>
          <p:nvPr/>
        </p:nvSpPr>
        <p:spPr>
          <a:xfrm>
            <a:off x="6295332" y="4752923"/>
            <a:ext cx="432048" cy="395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hthoek 48"/>
          <p:cNvSpPr/>
          <p:nvPr/>
        </p:nvSpPr>
        <p:spPr>
          <a:xfrm>
            <a:off x="6971857" y="4752923"/>
            <a:ext cx="432048" cy="40814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4605538" y="4797153"/>
          <a:ext cx="2803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17360" imgH="241200" progId="Equation.DSMT4">
                  <p:embed/>
                </p:oleObj>
              </mc:Choice>
              <mc:Fallback>
                <p:oleObj name="Equation" r:id="rId17" imgW="1917360" imgH="24120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538" y="4797153"/>
                        <a:ext cx="28035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Vrije vorm 50"/>
          <p:cNvSpPr/>
          <p:nvPr/>
        </p:nvSpPr>
        <p:spPr>
          <a:xfrm>
            <a:off x="3311856" y="5161067"/>
            <a:ext cx="1020932" cy="248574"/>
          </a:xfrm>
          <a:custGeom>
            <a:avLst/>
            <a:gdLst>
              <a:gd name="connsiteX0" fmla="*/ 0 w 1020932"/>
              <a:gd name="connsiteY0" fmla="*/ 0 h 248574"/>
              <a:gd name="connsiteX1" fmla="*/ 363985 w 1020932"/>
              <a:gd name="connsiteY1" fmla="*/ 248574 h 248574"/>
              <a:gd name="connsiteX2" fmla="*/ 1020932 w 1020932"/>
              <a:gd name="connsiteY2" fmla="*/ 0 h 248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932" h="248574">
                <a:moveTo>
                  <a:pt x="0" y="0"/>
                </a:moveTo>
                <a:cubicBezTo>
                  <a:pt x="96915" y="124287"/>
                  <a:pt x="193830" y="248574"/>
                  <a:pt x="363985" y="248574"/>
                </a:cubicBezTo>
                <a:cubicBezTo>
                  <a:pt x="534140" y="248574"/>
                  <a:pt x="777536" y="124287"/>
                  <a:pt x="1020932" y="0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63826" y="5607051"/>
          <a:ext cx="33432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86000" imgH="368280" progId="Equation.DSMT4">
                  <p:embed/>
                </p:oleObj>
              </mc:Choice>
              <mc:Fallback>
                <p:oleObj name="Equation" r:id="rId19" imgW="2286000" imgH="36828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6" y="5607051"/>
                        <a:ext cx="33432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kstvak 1"/>
          <p:cNvSpPr txBox="1"/>
          <p:nvPr/>
        </p:nvSpPr>
        <p:spPr>
          <a:xfrm>
            <a:off x="6295333" y="1700809"/>
            <a:ext cx="3953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>
                <a:solidFill>
                  <a:srgbClr val="FF0000"/>
                </a:solidFill>
              </a:rPr>
              <a:t>The double product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Afgeronde rechthoek 4"/>
          <p:cNvSpPr/>
          <p:nvPr/>
        </p:nvSpPr>
        <p:spPr>
          <a:xfrm>
            <a:off x="4727848" y="1772816"/>
            <a:ext cx="648072" cy="45121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E40B2-6500-5631-F3AA-E7CCE46E1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114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2" grpId="0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Examples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2145099" y="1706944"/>
                <a:ext cx="16751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099" y="1706944"/>
                <a:ext cx="1675139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3719736" y="1706942"/>
                <a:ext cx="18212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+6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706942"/>
                <a:ext cx="18212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/>
              <p:cNvSpPr txBox="1"/>
              <p:nvPr/>
            </p:nvSpPr>
            <p:spPr>
              <a:xfrm>
                <a:off x="6168008" y="2576987"/>
                <a:ext cx="1845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8" name="Tekstvak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2576987"/>
                <a:ext cx="184505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7795311" y="2564162"/>
                <a:ext cx="23310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+12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+18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311" y="2564162"/>
                <a:ext cx="23310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/>
              <p:cNvSpPr txBox="1"/>
              <p:nvPr/>
            </p:nvSpPr>
            <p:spPr>
              <a:xfrm>
                <a:off x="6168009" y="1706944"/>
                <a:ext cx="16751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0" name="Tekstvak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9" y="1706944"/>
                <a:ext cx="167513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7595217" y="1706943"/>
                <a:ext cx="19911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−8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+16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217" y="1706943"/>
                <a:ext cx="199118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/>
              <p:cNvSpPr txBox="1"/>
              <p:nvPr/>
            </p:nvSpPr>
            <p:spPr>
              <a:xfrm>
                <a:off x="2063552" y="2576987"/>
                <a:ext cx="1845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" name="Tekstvak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2576987"/>
                <a:ext cx="184505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/>
              <p:cNvSpPr txBox="1"/>
              <p:nvPr/>
            </p:nvSpPr>
            <p:spPr>
              <a:xfrm>
                <a:off x="3832083" y="2564161"/>
                <a:ext cx="21611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4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+12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3" name="Tekstvak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083" y="2564161"/>
                <a:ext cx="216110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/>
              <p:cNvSpPr txBox="1"/>
              <p:nvPr/>
            </p:nvSpPr>
            <p:spPr>
              <a:xfrm>
                <a:off x="2157917" y="3440098"/>
                <a:ext cx="1904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4" name="Tekstvak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917" y="3440098"/>
                <a:ext cx="190436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/>
              <p:cNvSpPr txBox="1"/>
              <p:nvPr/>
            </p:nvSpPr>
            <p:spPr>
              <a:xfrm>
                <a:off x="3832083" y="3440098"/>
                <a:ext cx="19911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+8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+16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5" name="Tekstvak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083" y="3440098"/>
                <a:ext cx="199118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/>
              <p:cNvSpPr txBox="1"/>
              <p:nvPr/>
            </p:nvSpPr>
            <p:spPr>
              <a:xfrm>
                <a:off x="2063553" y="4367538"/>
                <a:ext cx="31480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nl-NL" sz="2400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6" name="Tekstvak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4367538"/>
                <a:ext cx="3148041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kstvak 16"/>
              <p:cNvSpPr txBox="1"/>
              <p:nvPr/>
            </p:nvSpPr>
            <p:spPr>
              <a:xfrm>
                <a:off x="5030037" y="4367538"/>
                <a:ext cx="42396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−8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+16+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+2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+1=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7" name="Tekstvak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037" y="4367538"/>
                <a:ext cx="4239622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vak 17"/>
              <p:cNvSpPr txBox="1"/>
              <p:nvPr/>
            </p:nvSpPr>
            <p:spPr>
              <a:xfrm>
                <a:off x="2177653" y="5733257"/>
                <a:ext cx="28523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(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+3</m:t>
                      </m:r>
                      <m:r>
                        <a:rPr lang="nl-NL" sz="2400" i="1">
                          <a:latin typeface="Cambria Math"/>
                        </a:rPr>
                        <m:t>𝑦</m:t>
                      </m:r>
                      <m:r>
                        <a:rPr lang="nl-NL" sz="2400" i="1">
                          <a:latin typeface="Cambria Math"/>
                        </a:rPr>
                        <m:t>)(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−3</m:t>
                      </m:r>
                      <m:r>
                        <a:rPr lang="nl-NL" sz="2400" i="1">
                          <a:latin typeface="Cambria Math"/>
                        </a:rPr>
                        <m:t>𝑦</m:t>
                      </m:r>
                      <m:r>
                        <a:rPr lang="nl-NL" sz="2400" i="1">
                          <a:latin typeface="Cambria Math"/>
                        </a:rPr>
                        <m:t>)=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8" name="Tekstvak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653" y="5733257"/>
                <a:ext cx="2852384" cy="461665"/>
              </a:xfrm>
              <a:prstGeom prst="rect">
                <a:avLst/>
              </a:prstGeom>
              <a:blipFill>
                <a:blip r:embed="rId1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/>
              <p:cNvSpPr txBox="1"/>
              <p:nvPr/>
            </p:nvSpPr>
            <p:spPr>
              <a:xfrm>
                <a:off x="4944009" y="5733257"/>
                <a:ext cx="1457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−9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9" name="Tekstvak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009" y="5733257"/>
                <a:ext cx="1457643" cy="461665"/>
              </a:xfrm>
              <a:prstGeom prst="rect">
                <a:avLst/>
              </a:prstGeom>
              <a:blipFill>
                <a:blip r:embed="rId1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/>
              <p:cNvSpPr txBox="1"/>
              <p:nvPr/>
            </p:nvSpPr>
            <p:spPr>
              <a:xfrm>
                <a:off x="5917291" y="4869161"/>
                <a:ext cx="21611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nl-NL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nl-NL" sz="2400" i="1">
                          <a:latin typeface="Cambria Math"/>
                        </a:rPr>
                        <m:t>−6</m:t>
                      </m:r>
                      <m:r>
                        <a:rPr lang="nl-NL" sz="2400" i="1">
                          <a:latin typeface="Cambria Math"/>
                        </a:rPr>
                        <m:t>𝑥</m:t>
                      </m:r>
                      <m:r>
                        <a:rPr lang="nl-NL" sz="2400" i="1">
                          <a:latin typeface="Cambria Math"/>
                        </a:rPr>
                        <m:t>+17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21" name="Tekstvak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291" y="4869161"/>
                <a:ext cx="2161104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830C9-5314-9799-0F88-4CC73A459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90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420362"/>
              </p:ext>
            </p:extLst>
          </p:nvPr>
        </p:nvGraphicFramePr>
        <p:xfrm>
          <a:off x="2501033" y="1520962"/>
          <a:ext cx="20431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355320" progId="Equation.DSMT4">
                  <p:embed/>
                </p:oleObj>
              </mc:Choice>
              <mc:Fallback>
                <p:oleObj name="Equation" r:id="rId2" imgW="1396800" imgH="35532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033" y="1520962"/>
                        <a:ext cx="20431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Vrije vorm 4"/>
          <p:cNvSpPr/>
          <p:nvPr/>
        </p:nvSpPr>
        <p:spPr>
          <a:xfrm>
            <a:off x="2771879" y="1443847"/>
            <a:ext cx="1003177" cy="168696"/>
          </a:xfrm>
          <a:custGeom>
            <a:avLst/>
            <a:gdLst>
              <a:gd name="connsiteX0" fmla="*/ 0 w 1003177"/>
              <a:gd name="connsiteY0" fmla="*/ 159818 h 168696"/>
              <a:gd name="connsiteX1" fmla="*/ 372863 w 1003177"/>
              <a:gd name="connsiteY1" fmla="*/ 20 h 168696"/>
              <a:gd name="connsiteX2" fmla="*/ 1003177 w 1003177"/>
              <a:gd name="connsiteY2" fmla="*/ 168696 h 16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3177" h="168696">
                <a:moveTo>
                  <a:pt x="0" y="159818"/>
                </a:moveTo>
                <a:cubicBezTo>
                  <a:pt x="102833" y="79179"/>
                  <a:pt x="205667" y="-1460"/>
                  <a:pt x="372863" y="20"/>
                </a:cubicBezTo>
                <a:cubicBezTo>
                  <a:pt x="540059" y="1500"/>
                  <a:pt x="771618" y="85098"/>
                  <a:pt x="1003177" y="1686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Vrije vorm 5"/>
          <p:cNvSpPr/>
          <p:nvPr/>
        </p:nvSpPr>
        <p:spPr>
          <a:xfrm>
            <a:off x="2780756" y="1310604"/>
            <a:ext cx="1509204" cy="310817"/>
          </a:xfrm>
          <a:custGeom>
            <a:avLst/>
            <a:gdLst>
              <a:gd name="connsiteX0" fmla="*/ 0 w 1509204"/>
              <a:gd name="connsiteY0" fmla="*/ 284184 h 310817"/>
              <a:gd name="connsiteX1" fmla="*/ 648070 w 1509204"/>
              <a:gd name="connsiteY1" fmla="*/ 99 h 310817"/>
              <a:gd name="connsiteX2" fmla="*/ 1509204 w 1509204"/>
              <a:gd name="connsiteY2" fmla="*/ 310817 h 31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9204" h="310817">
                <a:moveTo>
                  <a:pt x="0" y="284184"/>
                </a:moveTo>
                <a:cubicBezTo>
                  <a:pt x="198268" y="139922"/>
                  <a:pt x="396536" y="-4340"/>
                  <a:pt x="648070" y="99"/>
                </a:cubicBezTo>
                <a:cubicBezTo>
                  <a:pt x="899604" y="4538"/>
                  <a:pt x="1204404" y="157677"/>
                  <a:pt x="1509204" y="31081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rije vorm 6"/>
          <p:cNvSpPr/>
          <p:nvPr/>
        </p:nvSpPr>
        <p:spPr>
          <a:xfrm>
            <a:off x="3269029" y="1923262"/>
            <a:ext cx="506027" cy="133271"/>
          </a:xfrm>
          <a:custGeom>
            <a:avLst/>
            <a:gdLst>
              <a:gd name="connsiteX0" fmla="*/ 0 w 506027"/>
              <a:gd name="connsiteY0" fmla="*/ 0 h 133271"/>
              <a:gd name="connsiteX1" fmla="*/ 186431 w 506027"/>
              <a:gd name="connsiteY1" fmla="*/ 133165 h 133271"/>
              <a:gd name="connsiteX2" fmla="*/ 506027 w 506027"/>
              <a:gd name="connsiteY2" fmla="*/ 17756 h 133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6027" h="133271">
                <a:moveTo>
                  <a:pt x="0" y="0"/>
                </a:moveTo>
                <a:cubicBezTo>
                  <a:pt x="51046" y="65103"/>
                  <a:pt x="102093" y="130206"/>
                  <a:pt x="186431" y="133165"/>
                </a:cubicBezTo>
                <a:cubicBezTo>
                  <a:pt x="270769" y="136124"/>
                  <a:pt x="388398" y="76940"/>
                  <a:pt x="506027" y="1775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hoek 7"/>
          <p:cNvSpPr/>
          <p:nvPr/>
        </p:nvSpPr>
        <p:spPr>
          <a:xfrm>
            <a:off x="4833467" y="1528195"/>
            <a:ext cx="432048" cy="395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hoek 8"/>
          <p:cNvSpPr/>
          <p:nvPr/>
        </p:nvSpPr>
        <p:spPr>
          <a:xfrm>
            <a:off x="5553547" y="1528195"/>
            <a:ext cx="432048" cy="395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hoek 9"/>
          <p:cNvSpPr/>
          <p:nvPr/>
        </p:nvSpPr>
        <p:spPr>
          <a:xfrm>
            <a:off x="6273627" y="1528195"/>
            <a:ext cx="432048" cy="395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hoek 10"/>
          <p:cNvSpPr/>
          <p:nvPr/>
        </p:nvSpPr>
        <p:spPr>
          <a:xfrm>
            <a:off x="6950152" y="1528195"/>
            <a:ext cx="432048" cy="40814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721769"/>
              </p:ext>
            </p:extLst>
          </p:nvPr>
        </p:nvGraphicFramePr>
        <p:xfrm>
          <a:off x="4611614" y="1466011"/>
          <a:ext cx="27479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291960" progId="Equation.DSMT4">
                  <p:embed/>
                </p:oleObj>
              </mc:Choice>
              <mc:Fallback>
                <p:oleObj name="Equation" r:id="rId4" imgW="1879560" imgH="29196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614" y="1466011"/>
                        <a:ext cx="27479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Vrije vorm 12"/>
          <p:cNvSpPr/>
          <p:nvPr/>
        </p:nvSpPr>
        <p:spPr>
          <a:xfrm>
            <a:off x="3290151" y="1936339"/>
            <a:ext cx="1020932" cy="248574"/>
          </a:xfrm>
          <a:custGeom>
            <a:avLst/>
            <a:gdLst>
              <a:gd name="connsiteX0" fmla="*/ 0 w 1020932"/>
              <a:gd name="connsiteY0" fmla="*/ 0 h 248574"/>
              <a:gd name="connsiteX1" fmla="*/ 363985 w 1020932"/>
              <a:gd name="connsiteY1" fmla="*/ 248574 h 248574"/>
              <a:gd name="connsiteX2" fmla="*/ 1020932 w 1020932"/>
              <a:gd name="connsiteY2" fmla="*/ 0 h 248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932" h="248574">
                <a:moveTo>
                  <a:pt x="0" y="0"/>
                </a:moveTo>
                <a:cubicBezTo>
                  <a:pt x="96915" y="124287"/>
                  <a:pt x="193830" y="248574"/>
                  <a:pt x="363985" y="248574"/>
                </a:cubicBezTo>
                <a:cubicBezTo>
                  <a:pt x="534140" y="248574"/>
                  <a:pt x="777536" y="124287"/>
                  <a:pt x="1020932" y="0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54561"/>
              </p:ext>
            </p:extLst>
          </p:nvPr>
        </p:nvGraphicFramePr>
        <p:xfrm>
          <a:off x="7536161" y="1473101"/>
          <a:ext cx="2041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279360" progId="Equation.DSMT4">
                  <p:embed/>
                </p:oleObj>
              </mc:Choice>
              <mc:Fallback>
                <p:oleObj name="Equation" r:id="rId6" imgW="1396800" imgH="27936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1" y="1473101"/>
                        <a:ext cx="2041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399612"/>
              </p:ext>
            </p:extLst>
          </p:nvPr>
        </p:nvGraphicFramePr>
        <p:xfrm>
          <a:off x="2495601" y="2436521"/>
          <a:ext cx="625951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79680" imgH="368280" progId="Equation.DSMT4">
                  <p:embed/>
                </p:oleObj>
              </mc:Choice>
              <mc:Fallback>
                <p:oleObj name="Equation" r:id="rId8" imgW="4279680" imgH="36828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1" y="2436521"/>
                        <a:ext cx="625951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7936"/>
              </p:ext>
            </p:extLst>
          </p:nvPr>
        </p:nvGraphicFramePr>
        <p:xfrm>
          <a:off x="3189288" y="3876359"/>
          <a:ext cx="50149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9000" imgH="368280" progId="Equation.DSMT4">
                  <p:embed/>
                </p:oleObj>
              </mc:Choice>
              <mc:Fallback>
                <p:oleObj name="Equation" r:id="rId10" imgW="3429000" imgH="36828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3876359"/>
                        <a:ext cx="50149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kstvak 1"/>
          <p:cNvSpPr txBox="1"/>
          <p:nvPr/>
        </p:nvSpPr>
        <p:spPr>
          <a:xfrm>
            <a:off x="3775056" y="4956800"/>
            <a:ext cx="4193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The sum-product formula</a:t>
            </a:r>
            <a:endParaRPr lang="en-US" sz="28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D32B891-67DF-289A-E039-E3191F80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9E526D-4EE9-4B34-A88B-21A2F2C001B2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980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Need more explanation and practice?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Go </a:t>
            </a:r>
            <a:r>
              <a:rPr lang="en-US" sz="2800" dirty="0" err="1"/>
              <a:t>to </a:t>
            </a:r>
            <a:r>
              <a:rPr lang="en-US" sz="2800" dirty="0"/>
              <a:t>the course on Brightspace</a:t>
            </a:r>
          </a:p>
          <a:p>
            <a:endParaRPr lang="en-US" sz="280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114137-FC67-423F-8161-657E83EC3F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75233"/>
      </p:ext>
    </p:extLst>
  </p:cSld>
  <p:clrMapOvr>
    <a:masterClrMapping/>
  </p:clrMapOvr>
</p:sld>
</file>

<file path=ppt/theme/theme1.xml><?xml version="1.0" encoding="utf-8"?>
<a:theme xmlns:a="http://schemas.openxmlformats.org/drawingml/2006/main" name="Saxion_16-9-NL">
  <a:themeElements>
    <a:clrScheme name="Saxion">
      <a:dk1>
        <a:sysClr val="windowText" lastClr="000000"/>
      </a:dk1>
      <a:lt1>
        <a:sysClr val="window" lastClr="FFFFFF"/>
      </a:lt1>
      <a:dk2>
        <a:srgbClr val="009C82"/>
      </a:dk2>
      <a:lt2>
        <a:srgbClr val="F2F2F2"/>
      </a:lt2>
      <a:accent1>
        <a:srgbClr val="009C82"/>
      </a:accent1>
      <a:accent2>
        <a:srgbClr val="C6C5BF"/>
      </a:accent2>
      <a:accent3>
        <a:srgbClr val="85CEE4"/>
      </a:accent3>
      <a:accent4>
        <a:srgbClr val="009C82"/>
      </a:accent4>
      <a:accent5>
        <a:srgbClr val="C6C5BF"/>
      </a:accent5>
      <a:accent6>
        <a:srgbClr val="85CEE4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xion_16-9_NL.pptx" id="{3DE55923-7B04-482F-A470-1E6DC09B5858}" vid="{D504D239-ABB6-4121-9366-3253B968F0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6664f9864b54a78bdf9e6230de1c78b xmlns="6c73e52c-07d4-4617-ab67-464747257e8d">
      <Terms xmlns="http://schemas.microsoft.com/office/infopath/2007/PartnerControls"/>
    </c6664f9864b54a78bdf9e6230de1c78b>
    <lcf76f155ced4ddcb4097134ff3c332f xmlns="db6c94ed-1c5a-4e80-b43f-1a581438473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8C4348C9359840B1BE688802E7FA66" ma:contentTypeVersion="19" ma:contentTypeDescription="Een nieuw document maken." ma:contentTypeScope="" ma:versionID="c6db7bb80fd28392ea350cf600b6c8c2">
  <xsd:schema xmlns:xsd="http://www.w3.org/2001/XMLSchema" xmlns:xs="http://www.w3.org/2001/XMLSchema" xmlns:p="http://schemas.microsoft.com/office/2006/metadata/properties" xmlns:ns2="45f6ce90-ba85-4ef2-b43f-c64448cd95eb" xmlns:ns3="6311a401-7a08-4527-8788-494121fc770f" xmlns:ns4="6c73e52c-07d4-4617-ab67-464747257e8d" xmlns:ns5="db6c94ed-1c5a-4e80-b43f-1a581438473c" targetNamespace="http://schemas.microsoft.com/office/2006/metadata/properties" ma:root="true" ma:fieldsID="83d724239d2fe1867618af9ef9ba325d" ns2:_="" ns3:_="" ns4:_="" ns5:_="">
    <xsd:import namespace="45f6ce90-ba85-4ef2-b43f-c64448cd95eb"/>
    <xsd:import namespace="6311a401-7a08-4527-8788-494121fc770f"/>
    <xsd:import namespace="6c73e52c-07d4-4617-ab67-464747257e8d"/>
    <xsd:import namespace="db6c94ed-1c5a-4e80-b43f-1a58143847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4:c6664f9864b54a78bdf9e6230de1c78b" minOccurs="0"/>
                <xsd:element ref="ns5:MediaServiceMetadata" minOccurs="0"/>
                <xsd:element ref="ns5:MediaServiceFastMetadata" minOccurs="0"/>
                <xsd:element ref="ns3:SharedWithDetails" minOccurs="0"/>
                <xsd:element ref="ns5:MediaServiceAutoTags" minOccurs="0"/>
                <xsd:element ref="ns5:MediaServiceOCR" minOccurs="0"/>
                <xsd:element ref="ns5:MediaServiceGenerationTime" minOccurs="0"/>
                <xsd:element ref="ns5:MediaServiceEventHashCode" minOccurs="0"/>
                <xsd:element ref="ns5:MediaServiceDateTaken" minOccurs="0"/>
                <xsd:element ref="ns5:MediaServiceLocation" minOccurs="0"/>
                <xsd:element ref="ns5:MediaServiceAutoKeyPoints" minOccurs="0"/>
                <xsd:element ref="ns5:MediaServiceKeyPoints" minOccurs="0"/>
                <xsd:element ref="ns5:MediaLengthInSeconds" minOccurs="0"/>
                <xsd:element ref="ns5:lcf76f155ced4ddcb4097134ff3c332f" minOccurs="0"/>
                <xsd:element ref="ns5:MediaServiceObjectDetectorVersions" minOccurs="0"/>
                <xsd:element ref="ns5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6ce90-ba85-4ef2-b43f-c64448cd95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1a401-7a08-4527-8788-494121fc770f" elementFormDefault="qualified">
    <xsd:import namespace="http://schemas.microsoft.com/office/2006/documentManagement/types"/>
    <xsd:import namespace="http://schemas.microsoft.com/office/infopath/2007/PartnerControls"/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73e52c-07d4-4617-ab67-464747257e8d" elementFormDefault="qualified">
    <xsd:import namespace="http://schemas.microsoft.com/office/2006/documentManagement/types"/>
    <xsd:import namespace="http://schemas.microsoft.com/office/infopath/2007/PartnerControls"/>
    <xsd:element name="c6664f9864b54a78bdf9e6230de1c78b" ma:index="10" nillable="true" ma:taxonomy="true" ma:internalName="c6664f9864b54a78bdf9e6230de1c78b" ma:taxonomyFieldName="Saxion_Organisatie" ma:displayName="Organisatie" ma:fieldId="{c6664f98-64b5-4a78-bdf9-e6230de1c78b}" ma:sspId="ea23b583-fc58-4aef-a739-6987dbfb3358" ma:termSetId="f5ce510c-de11-4010-8708-f2f2dfd0e37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c94ed-1c5a-4e80-b43f-1a58143847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Afbeeldingtags" ma:readOnly="false" ma:fieldId="{5cf76f15-5ced-4ddc-b409-7134ff3c332f}" ma:taxonomyMulti="true" ma:sspId="ea23b583-fc58-4aef-a739-6987dbfb3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CCE4B5-8CFF-4CD0-BF93-7C545FD699E7}">
  <ds:schemaRefs>
    <ds:schemaRef ds:uri="http://www.w3.org/XML/1998/namespace"/>
    <ds:schemaRef ds:uri="http://purl.org/dc/dcmitype/"/>
    <ds:schemaRef ds:uri="45f6ce90-ba85-4ef2-b43f-c64448cd95eb"/>
    <ds:schemaRef ds:uri="http://schemas.microsoft.com/office/2006/metadata/properties"/>
    <ds:schemaRef ds:uri="6c73e52c-07d4-4617-ab67-464747257e8d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db6c94ed-1c5a-4e80-b43f-1a581438473c"/>
    <ds:schemaRef ds:uri="6311a401-7a08-4527-8788-494121fc770f"/>
  </ds:schemaRefs>
</ds:datastoreItem>
</file>

<file path=customXml/itemProps2.xml><?xml version="1.0" encoding="utf-8"?>
<ds:datastoreItem xmlns:ds="http://schemas.openxmlformats.org/officeDocument/2006/customXml" ds:itemID="{D61F3E18-8454-4FF3-B463-0EDEBDFDDF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A21127-8839-42E6-B92C-0709C728EE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f6ce90-ba85-4ef2-b43f-c64448cd95eb"/>
    <ds:schemaRef ds:uri="6311a401-7a08-4527-8788-494121fc770f"/>
    <ds:schemaRef ds:uri="6c73e52c-07d4-4617-ab67-464747257e8d"/>
    <ds:schemaRef ds:uri="db6c94ed-1c5a-4e80-b43f-1a58143847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Saxion_16-9_NL</Template>
  <TotalTime>0</TotalTime>
  <Words>1160</Words>
  <Application>Microsoft Office PowerPoint</Application>
  <PresentationFormat>Widescreen</PresentationFormat>
  <Paragraphs>293</Paragraphs>
  <Slides>27</Slides>
  <Notes>3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Arial Black</vt:lpstr>
      <vt:lpstr>Cambria Math</vt:lpstr>
      <vt:lpstr>Wingdings</vt:lpstr>
      <vt:lpstr>Saxion_16-9-NL</vt:lpstr>
      <vt:lpstr>Equation</vt:lpstr>
      <vt:lpstr>Lesson 1: Addition, subtraction, multiplication and division</vt:lpstr>
      <vt:lpstr>Practicalities</vt:lpstr>
      <vt:lpstr>Möbius and Brightspace</vt:lpstr>
      <vt:lpstr>The number line</vt:lpstr>
      <vt:lpstr>PowerPoint Presentation</vt:lpstr>
      <vt:lpstr>PowerPoint Presentation</vt:lpstr>
      <vt:lpstr>Divisibility</vt:lpstr>
      <vt:lpstr>Prime numbers</vt:lpstr>
      <vt:lpstr>Arbor factor decomposition</vt:lpstr>
      <vt:lpstr>Another prime factor decomposition</vt:lpstr>
      <vt:lpstr>Simplifying fractions</vt:lpstr>
      <vt:lpstr>Example of simplifying</vt:lpstr>
      <vt:lpstr>Adding fractions</vt:lpstr>
      <vt:lpstr>Addition and subtraction examples</vt:lpstr>
      <vt:lpstr>Compound fractions</vt:lpstr>
      <vt:lpstr>Examples</vt:lpstr>
      <vt:lpstr>Multiplying fractions</vt:lpstr>
      <vt:lpstr>Dividing fractions</vt:lpstr>
      <vt:lpstr>Working out brackets</vt:lpstr>
      <vt:lpstr>PowerPoint Presentation</vt:lpstr>
      <vt:lpstr>PowerPoint Presentation</vt:lpstr>
      <vt:lpstr>Examples </vt:lpstr>
      <vt:lpstr>PowerPoint Presentation</vt:lpstr>
      <vt:lpstr>PowerPoint Presentation</vt:lpstr>
      <vt:lpstr>Examples </vt:lpstr>
      <vt:lpstr>PowerPoint Presentation</vt:lpstr>
      <vt:lpstr>Need more explanation and practice?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Millonzi</dc:creator>
  <cp:keywords>, docId:E7969A4BFE8EBBF1CD7316271F39E873</cp:keywords>
  <cp:lastModifiedBy>Marcello Millonzi</cp:lastModifiedBy>
  <cp:revision>4</cp:revision>
  <dcterms:created xsi:type="dcterms:W3CDTF">2024-09-04T08:23:10Z</dcterms:created>
  <dcterms:modified xsi:type="dcterms:W3CDTF">2024-09-04T12:40:11Z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0x010100AD8C4348C9359840B1BE688802E7FA66</vt:lpwstr>
  </property>
  <property fmtid="{D5CDD505-2E9C-101B-9397-08002B2CF9AE}" pid="3" name="Saxion_Organisatie">
    <vt:lpwstr/>
  </property>
  <property fmtid="{D5CDD505-2E9C-101B-9397-08002B2CF9AE}" pid="4" name="MediaServiceImageTags">
    <vt:lpwstr/>
  </property>
</Properties>
</file>